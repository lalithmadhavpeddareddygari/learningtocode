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972800" cy="365760"/>
          </a:xfrm>
          <a:prstGeom prst="rect">
            <a:avLst/>
          </a:prstGeom>
          <a:noFill/>
        </p:spPr>
        <p:txBody>
          <a:bodyPr wrap="square">
            <a:spAutoFit/>
          </a:bodyPr>
          <a:lstStyle/>
          <a:p>
            <a:pPr algn="l"/>
            <a:r>
              <a:rPr sz="1400" b="1">
                <a:solidFill>
                  <a:srgbClr val="E87722"/>
                </a:solidFill>
                <a:latin typeface="Calibri"/>
              </a:rPr>
              <a:t>QUALITY ENGINEERING  ·  MARKET RESEARCH + PROPOSAL</a:t>
            </a:r>
          </a:p>
        </p:txBody>
      </p:sp>
      <p:sp>
        <p:nvSpPr>
          <p:cNvPr id="5" name="TextBox 4"/>
          <p:cNvSpPr txBox="1"/>
          <p:nvPr/>
        </p:nvSpPr>
        <p:spPr>
          <a:xfrm>
            <a:off x="640080" y="1828800"/>
            <a:ext cx="10972800" cy="1463040"/>
          </a:xfrm>
          <a:prstGeom prst="rect">
            <a:avLst/>
          </a:prstGeom>
          <a:noFill/>
        </p:spPr>
        <p:txBody>
          <a:bodyPr wrap="square">
            <a:spAutoFit/>
          </a:bodyPr>
          <a:lstStyle/>
          <a:p>
            <a:pPr algn="l"/>
            <a:r>
              <a:rPr sz="4000" b="1">
                <a:solidFill>
                  <a:srgbClr val="FFFFFF"/>
                </a:solidFill>
                <a:latin typeface="Calibri"/>
              </a:rPr>
              <a:t>Integration Testing for
Embedded Coder Code Efficiency</a:t>
            </a:r>
          </a:p>
        </p:txBody>
      </p:sp>
      <p:sp>
        <p:nvSpPr>
          <p:cNvPr id="6" name="TextBox 5"/>
          <p:cNvSpPr txBox="1"/>
          <p:nvPr/>
        </p:nvSpPr>
        <p:spPr>
          <a:xfrm>
            <a:off x="640080" y="3657600"/>
            <a:ext cx="10515600" cy="1097280"/>
          </a:xfrm>
          <a:prstGeom prst="rect">
            <a:avLst/>
          </a:prstGeom>
          <a:noFill/>
        </p:spPr>
        <p:txBody>
          <a:bodyPr wrap="square">
            <a:spAutoFit/>
          </a:bodyPr>
          <a:lstStyle/>
          <a:p>
            <a:pPr algn="l"/>
            <a:r>
              <a:rPr sz="1800" b="0">
                <a:solidFill>
                  <a:srgbClr val="D5E2EE"/>
                </a:solidFill>
                <a:latin typeface="Calibri"/>
              </a:rPr>
              <a:t>How industry teams test compiler-class products in the middle of the pyramid —
and a practical proposal so we stop paying full codegen + SIL cost for every defect class.</a:t>
            </a:r>
          </a:p>
        </p:txBody>
      </p:sp>
      <p:sp>
        <p:nvSpPr>
          <p:cNvPr id="7" name="TextBox 6"/>
          <p:cNvSpPr txBox="1"/>
          <p:nvPr/>
        </p:nvSpPr>
        <p:spPr>
          <a:xfrm>
            <a:off x="640080" y="5852160"/>
            <a:ext cx="10058400" cy="365760"/>
          </a:xfrm>
          <a:prstGeom prst="rect">
            <a:avLst/>
          </a:prstGeom>
          <a:noFill/>
        </p:spPr>
        <p:txBody>
          <a:bodyPr wrap="square">
            <a:spAutoFit/>
          </a:bodyPr>
          <a:lstStyle/>
          <a:p>
            <a:pPr algn="l"/>
            <a:r>
              <a:rPr sz="1400" b="0">
                <a:solidFill>
                  <a:srgbClr val="A8BBCC"/>
                </a:solidFill>
                <a:latin typeface="Calibri"/>
              </a:rPr>
              <a:t>Audience: Code Efficiency Dev Manager  ·  Prepared by QE</a:t>
            </a:r>
          </a:p>
        </p:txBody>
      </p:sp>
      <p:sp>
        <p:nvSpPr>
          <p:cNvPr id="8" name="TextBox 7"/>
          <p:cNvSpPr txBox="1"/>
          <p:nvPr/>
        </p:nvSpPr>
        <p:spPr>
          <a:xfrm>
            <a:off x="640080" y="6172200"/>
            <a:ext cx="10058400" cy="274320"/>
          </a:xfrm>
          <a:prstGeom prst="rect">
            <a:avLst/>
          </a:prstGeom>
          <a:noFill/>
        </p:spPr>
        <p:txBody>
          <a:bodyPr wrap="square">
            <a:spAutoFit/>
          </a:bodyPr>
          <a:lstStyle/>
          <a:p>
            <a:pPr algn="l"/>
            <a:r>
              <a:rPr sz="1300" b="0">
                <a:solidFill>
                  <a:srgbClr val="7F96AB"/>
                </a:solidFill>
                <a:latin typeface="Calibri"/>
              </a:rPr>
              <a:t>Internal use  ·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73152"/>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10972800" cy="457200"/>
          </a:xfrm>
          <a:prstGeom prst="rect">
            <a:avLst/>
          </a:prstGeom>
          <a:noFill/>
        </p:spPr>
        <p:txBody>
          <a:bodyPr wrap="square">
            <a:spAutoFit/>
          </a:bodyPr>
          <a:lstStyle/>
          <a:p>
            <a:pPr algn="l"/>
            <a:r>
              <a:rPr sz="2800" b="1">
                <a:solidFill>
                  <a:srgbClr val="FFFFFF"/>
                </a:solidFill>
                <a:latin typeface="Calibri"/>
              </a:rPr>
              <a:t>The problem we are being asked to solve</a:t>
            </a:r>
          </a:p>
        </p:txBody>
      </p:sp>
      <p:sp>
        <p:nvSpPr>
          <p:cNvPr id="5" name="TextBox 4"/>
          <p:cNvSpPr txBox="1"/>
          <p:nvPr/>
        </p:nvSpPr>
        <p:spPr>
          <a:xfrm>
            <a:off x="457200" y="621792"/>
            <a:ext cx="10972800" cy="320040"/>
          </a:xfrm>
          <a:prstGeom prst="rect">
            <a:avLst/>
          </a:prstGeom>
          <a:noFill/>
        </p:spPr>
        <p:txBody>
          <a:bodyPr wrap="square">
            <a:spAutoFit/>
          </a:bodyPr>
          <a:lstStyle/>
          <a:p>
            <a:pPr algn="l"/>
            <a:r>
              <a:rPr sz="1400" b="0">
                <a:solidFill>
                  <a:srgbClr val="C9D7E5"/>
                </a:solidFill>
                <a:latin typeface="Calibri"/>
              </a:rPr>
              <a:t>Why this research exists</a:t>
            </a:r>
          </a:p>
        </p:txBody>
      </p:sp>
      <p:sp>
        <p:nvSpPr>
          <p:cNvPr id="6" name="Rectangle 5"/>
          <p:cNvSpPr/>
          <p:nvPr/>
        </p:nvSpPr>
        <p:spPr>
          <a:xfrm>
            <a:off x="0" y="6656832"/>
            <a:ext cx="12191695" cy="20116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647688"/>
            <a:ext cx="9144000" cy="201168"/>
          </a:xfrm>
          <a:prstGeom prst="rect">
            <a:avLst/>
          </a:prstGeom>
          <a:noFill/>
        </p:spPr>
        <p:txBody>
          <a:bodyPr wrap="square">
            <a:spAutoFit/>
          </a:bodyPr>
          <a:lstStyle/>
          <a:p>
            <a:pPr algn="l"/>
            <a:r>
              <a:rPr sz="1000" b="0">
                <a:solidFill>
                  <a:srgbClr val="FFFFFF"/>
                </a:solidFill>
                <a:latin typeface="Calibri"/>
              </a:rPr>
              <a:t>Embedded Coder  ·  Code Efficiency  ·  Integration Testing Proposal  ·  Internal</a:t>
            </a:r>
          </a:p>
        </p:txBody>
      </p:sp>
      <p:sp>
        <p:nvSpPr>
          <p:cNvPr id="8" name="TextBox 7"/>
          <p:cNvSpPr txBox="1"/>
          <p:nvPr/>
        </p:nvSpPr>
        <p:spPr>
          <a:xfrm>
            <a:off x="10607040" y="6647688"/>
            <a:ext cx="1280160" cy="201168"/>
          </a:xfrm>
          <a:prstGeom prst="rect">
            <a:avLst/>
          </a:prstGeom>
          <a:noFill/>
        </p:spPr>
        <p:txBody>
          <a:bodyPr wrap="square">
            <a:spAutoFit/>
          </a:bodyPr>
          <a:lstStyle/>
          <a:p>
            <a:pPr algn="r"/>
            <a:r>
              <a:rPr sz="1000" b="0">
                <a:solidFill>
                  <a:srgbClr val="FFFFFF"/>
                </a:solidFill>
                <a:latin typeface="Calibri"/>
              </a:rPr>
              <a:t>2  /  20</a:t>
            </a:r>
          </a:p>
        </p:txBody>
      </p:sp>
      <p:sp>
        <p:nvSpPr>
          <p:cNvPr id="9" name="Rectangle 8"/>
          <p:cNvSpPr/>
          <p:nvPr/>
        </p:nvSpPr>
        <p:spPr>
          <a:xfrm>
            <a:off x="0" y="1124712"/>
            <a:ext cx="12191695" cy="553212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11480" y="1325880"/>
            <a:ext cx="11338560" cy="1115568"/>
          </a:xfrm>
          <a:prstGeom prst="roundRect">
            <a:avLst/>
          </a:prstGeom>
          <a:solidFill>
            <a:srgbClr val="FFFFFF"/>
          </a:solidFill>
          <a:ln w="12700">
            <a:solidFill>
              <a:srgbClr val="D5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11480" y="1325880"/>
            <a:ext cx="109728" cy="111556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435608"/>
            <a:ext cx="10789920" cy="320040"/>
          </a:xfrm>
          <a:prstGeom prst="rect">
            <a:avLst/>
          </a:prstGeom>
          <a:noFill/>
        </p:spPr>
        <p:txBody>
          <a:bodyPr wrap="square">
            <a:spAutoFit/>
          </a:bodyPr>
          <a:lstStyle/>
          <a:p>
            <a:pPr algn="l"/>
            <a:r>
              <a:rPr sz="1800" b="1">
                <a:solidFill>
                  <a:srgbClr val="0B2C4A"/>
                </a:solidFill>
                <a:latin typeface="Calibri"/>
              </a:rPr>
              <a:t>System tests are our default oracle</a:t>
            </a:r>
          </a:p>
        </p:txBody>
      </p:sp>
      <p:sp>
        <p:nvSpPr>
          <p:cNvPr id="13" name="TextBox 12"/>
          <p:cNvSpPr txBox="1"/>
          <p:nvPr/>
        </p:nvSpPr>
        <p:spPr>
          <a:xfrm>
            <a:off x="731520" y="1737360"/>
            <a:ext cx="10789920" cy="640080"/>
          </a:xfrm>
          <a:prstGeom prst="rect">
            <a:avLst/>
          </a:prstGeom>
          <a:noFill/>
        </p:spPr>
        <p:txBody>
          <a:bodyPr wrap="square">
            <a:spAutoFit/>
          </a:bodyPr>
          <a:lstStyle/>
          <a:p>
            <a:pPr algn="l"/>
            <a:r>
              <a:rPr sz="1400" b="0">
                <a:solidFill>
                  <a:srgbClr val="5B6775"/>
                </a:solidFill>
                <a:latin typeface="Calibri"/>
              </a:rPr>
              <a:t>Most confidence today comes from full model → codegen → compile → SIL (and sometimes profiling) workflows. That is the right test for numerical equivalence and real execution. It is the wrong test for every optimization, IR, or plumbing change.</a:t>
            </a:r>
          </a:p>
        </p:txBody>
      </p:sp>
      <p:sp>
        <p:nvSpPr>
          <p:cNvPr id="14" name="Rounded Rectangle 13"/>
          <p:cNvSpPr/>
          <p:nvPr/>
        </p:nvSpPr>
        <p:spPr>
          <a:xfrm>
            <a:off x="411480" y="2560320"/>
            <a:ext cx="11338560" cy="1115568"/>
          </a:xfrm>
          <a:prstGeom prst="roundRect">
            <a:avLst/>
          </a:prstGeom>
          <a:solidFill>
            <a:srgbClr val="FFFFFF"/>
          </a:solidFill>
          <a:ln w="12700">
            <a:solidFill>
              <a:srgbClr val="D5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1480" y="2560320"/>
            <a:ext cx="109728" cy="111556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670048"/>
            <a:ext cx="10789920" cy="320040"/>
          </a:xfrm>
          <a:prstGeom prst="rect">
            <a:avLst/>
          </a:prstGeom>
          <a:noFill/>
        </p:spPr>
        <p:txBody>
          <a:bodyPr wrap="square">
            <a:spAutoFit/>
          </a:bodyPr>
          <a:lstStyle/>
          <a:p>
            <a:pPr algn="l"/>
            <a:r>
              <a:rPr sz="1800" b="1">
                <a:solidFill>
                  <a:srgbClr val="0B2C4A"/>
                </a:solidFill>
                <a:latin typeface="Calibri"/>
              </a:rPr>
              <a:t>Feedback is too late and too expensive</a:t>
            </a:r>
          </a:p>
        </p:txBody>
      </p:sp>
      <p:sp>
        <p:nvSpPr>
          <p:cNvPr id="17" name="TextBox 16"/>
          <p:cNvSpPr txBox="1"/>
          <p:nvPr/>
        </p:nvSpPr>
        <p:spPr>
          <a:xfrm>
            <a:off x="731520" y="2971800"/>
            <a:ext cx="10789920" cy="640080"/>
          </a:xfrm>
          <a:prstGeom prst="rect">
            <a:avLst/>
          </a:prstGeom>
          <a:noFill/>
        </p:spPr>
        <p:txBody>
          <a:bodyPr wrap="square">
            <a:spAutoFit/>
          </a:bodyPr>
          <a:lstStyle/>
          <a:p>
            <a:pPr algn="l"/>
            <a:r>
              <a:rPr sz="1400" b="0">
                <a:solidFill>
                  <a:srgbClr val="5B6775"/>
                </a:solidFill>
                <a:latin typeface="Calibri"/>
              </a:rPr>
              <a:t>Industry data is consistent: end-to-end / system tests are minutes-to-hours, high maintenance, and poor at localizing the failing component. Google, Microsoft, and compiler vendors all treat this as a design problem, not a hardware problem.</a:t>
            </a:r>
          </a:p>
        </p:txBody>
      </p:sp>
      <p:sp>
        <p:nvSpPr>
          <p:cNvPr id="18" name="Rounded Rectangle 17"/>
          <p:cNvSpPr/>
          <p:nvPr/>
        </p:nvSpPr>
        <p:spPr>
          <a:xfrm>
            <a:off x="411480" y="3794760"/>
            <a:ext cx="11338560" cy="1115568"/>
          </a:xfrm>
          <a:prstGeom prst="roundRect">
            <a:avLst/>
          </a:prstGeom>
          <a:solidFill>
            <a:srgbClr val="FFFFFF"/>
          </a:solidFill>
          <a:ln w="12700">
            <a:solidFill>
              <a:srgbClr val="D5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11480" y="3794760"/>
            <a:ext cx="109728" cy="111556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3904488"/>
            <a:ext cx="10789920" cy="320040"/>
          </a:xfrm>
          <a:prstGeom prst="rect">
            <a:avLst/>
          </a:prstGeom>
          <a:noFill/>
        </p:spPr>
        <p:txBody>
          <a:bodyPr wrap="square">
            <a:spAutoFit/>
          </a:bodyPr>
          <a:lstStyle/>
          <a:p>
            <a:pPr algn="l"/>
            <a:r>
              <a:rPr sz="1800" b="1">
                <a:solidFill>
                  <a:srgbClr val="0B2C4A"/>
                </a:solidFill>
                <a:latin typeface="Calibri"/>
              </a:rPr>
              <a:t>Code Efficiency is especially exposed</a:t>
            </a:r>
          </a:p>
        </p:txBody>
      </p:sp>
      <p:sp>
        <p:nvSpPr>
          <p:cNvPr id="21" name="TextBox 20"/>
          <p:cNvSpPr txBox="1"/>
          <p:nvPr/>
        </p:nvSpPr>
        <p:spPr>
          <a:xfrm>
            <a:off x="731520" y="4206240"/>
            <a:ext cx="10789920" cy="640080"/>
          </a:xfrm>
          <a:prstGeom prst="rect">
            <a:avLst/>
          </a:prstGeom>
          <a:noFill/>
        </p:spPr>
        <p:txBody>
          <a:bodyPr wrap="square">
            <a:spAutoFit/>
          </a:bodyPr>
          <a:lstStyle/>
          <a:p>
            <a:pPr algn="l"/>
            <a:r>
              <a:rPr sz="1400" b="0">
                <a:solidFill>
                  <a:srgbClr val="5B6775"/>
                </a:solidFill>
                <a:latin typeface="Calibri"/>
              </a:rPr>
              <a:t>Our defects are often about copies, buffer reuse, inlining, SIMD, stack, ROM/RAM, and transform interactions — not “does the model still simulate.” SIL proves functional equivalence; it does not cheaply prove that an optimization fired, stayed legal, or improved metrics.</a:t>
            </a:r>
          </a:p>
        </p:txBody>
      </p:sp>
      <p:sp>
        <p:nvSpPr>
          <p:cNvPr id="22" name="Rounded Rectangle 21"/>
          <p:cNvSpPr/>
          <p:nvPr/>
        </p:nvSpPr>
        <p:spPr>
          <a:xfrm>
            <a:off x="411480" y="5029200"/>
            <a:ext cx="11338560" cy="1115568"/>
          </a:xfrm>
          <a:prstGeom prst="roundRect">
            <a:avLst/>
          </a:prstGeom>
          <a:solidFill>
            <a:srgbClr val="FFFFFF"/>
          </a:solidFill>
          <a:ln w="12700">
            <a:solidFill>
              <a:srgbClr val="D5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11480" y="5029200"/>
            <a:ext cx="109728" cy="1115568"/>
          </a:xfrm>
          <a:prstGeom prst="rect">
            <a:avLst/>
          </a:prstGeom>
          <a:solidFill>
            <a:srgbClr val="0D7A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5138928"/>
            <a:ext cx="10789920" cy="320040"/>
          </a:xfrm>
          <a:prstGeom prst="rect">
            <a:avLst/>
          </a:prstGeom>
          <a:noFill/>
        </p:spPr>
        <p:txBody>
          <a:bodyPr wrap="square">
            <a:spAutoFit/>
          </a:bodyPr>
          <a:lstStyle/>
          <a:p>
            <a:pPr algn="l"/>
            <a:r>
              <a:rPr sz="1800" b="1">
                <a:solidFill>
                  <a:srgbClr val="0B2C4A"/>
                </a:solidFill>
                <a:latin typeface="Calibri"/>
              </a:rPr>
              <a:t>Ask of this deck</a:t>
            </a:r>
          </a:p>
        </p:txBody>
      </p:sp>
      <p:sp>
        <p:nvSpPr>
          <p:cNvPr id="25" name="TextBox 24"/>
          <p:cNvSpPr txBox="1"/>
          <p:nvPr/>
        </p:nvSpPr>
        <p:spPr>
          <a:xfrm>
            <a:off x="731520" y="5440680"/>
            <a:ext cx="10789920" cy="640080"/>
          </a:xfrm>
          <a:prstGeom prst="rect">
            <a:avLst/>
          </a:prstGeom>
          <a:noFill/>
        </p:spPr>
        <p:txBody>
          <a:bodyPr wrap="square">
            <a:spAutoFit/>
          </a:bodyPr>
          <a:lstStyle/>
          <a:p>
            <a:pPr algn="l"/>
            <a:r>
              <a:rPr sz="1400" b="0">
                <a:solidFill>
                  <a:srgbClr val="5B6775"/>
                </a:solidFill>
                <a:latin typeface="Calibri"/>
              </a:rPr>
              <a:t>A market-informed definition of integration testing for our product, and a proposal we can pilot without replacing system tests.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73152"/>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10972800" cy="457200"/>
          </a:xfrm>
          <a:prstGeom prst="rect">
            <a:avLst/>
          </a:prstGeom>
          <a:noFill/>
        </p:spPr>
        <p:txBody>
          <a:bodyPr wrap="square">
            <a:spAutoFit/>
          </a:bodyPr>
          <a:lstStyle/>
          <a:p>
            <a:pPr algn="l"/>
            <a:r>
              <a:rPr sz="2800" b="1">
                <a:solidFill>
                  <a:srgbClr val="FFFFFF"/>
                </a:solidFill>
                <a:latin typeface="Calibri"/>
              </a:rPr>
              <a:t>Agenda</a:t>
            </a:r>
          </a:p>
        </p:txBody>
      </p:sp>
      <p:sp>
        <p:nvSpPr>
          <p:cNvPr id="5" name="TextBox 4"/>
          <p:cNvSpPr txBox="1"/>
          <p:nvPr/>
        </p:nvSpPr>
        <p:spPr>
          <a:xfrm>
            <a:off x="457200" y="621792"/>
            <a:ext cx="10972800" cy="320040"/>
          </a:xfrm>
          <a:prstGeom prst="rect">
            <a:avLst/>
          </a:prstGeom>
          <a:noFill/>
        </p:spPr>
        <p:txBody>
          <a:bodyPr wrap="square">
            <a:spAutoFit/>
          </a:bodyPr>
          <a:lstStyle/>
          <a:p>
            <a:pPr algn="l"/>
            <a:r>
              <a:rPr sz="1400" b="0">
                <a:solidFill>
                  <a:srgbClr val="C9D7E5"/>
                </a:solidFill>
                <a:latin typeface="Calibri"/>
              </a:rPr>
              <a:t>40–45 minutes, including discussion</a:t>
            </a:r>
          </a:p>
        </p:txBody>
      </p:sp>
      <p:sp>
        <p:nvSpPr>
          <p:cNvPr id="6" name="Rectangle 5"/>
          <p:cNvSpPr/>
          <p:nvPr/>
        </p:nvSpPr>
        <p:spPr>
          <a:xfrm>
            <a:off x="0" y="6656832"/>
            <a:ext cx="12191695" cy="20116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647688"/>
            <a:ext cx="9144000" cy="201168"/>
          </a:xfrm>
          <a:prstGeom prst="rect">
            <a:avLst/>
          </a:prstGeom>
          <a:noFill/>
        </p:spPr>
        <p:txBody>
          <a:bodyPr wrap="square">
            <a:spAutoFit/>
          </a:bodyPr>
          <a:lstStyle/>
          <a:p>
            <a:pPr algn="l"/>
            <a:r>
              <a:rPr sz="1000" b="0">
                <a:solidFill>
                  <a:srgbClr val="FFFFFF"/>
                </a:solidFill>
                <a:latin typeface="Calibri"/>
              </a:rPr>
              <a:t>Embedded Coder  ·  Code Efficiency  ·  Integration Testing Proposal  ·  Internal</a:t>
            </a:r>
          </a:p>
        </p:txBody>
      </p:sp>
      <p:sp>
        <p:nvSpPr>
          <p:cNvPr id="8" name="TextBox 7"/>
          <p:cNvSpPr txBox="1"/>
          <p:nvPr/>
        </p:nvSpPr>
        <p:spPr>
          <a:xfrm>
            <a:off x="10607040" y="6647688"/>
            <a:ext cx="1280160" cy="201168"/>
          </a:xfrm>
          <a:prstGeom prst="rect">
            <a:avLst/>
          </a:prstGeom>
          <a:noFill/>
        </p:spPr>
        <p:txBody>
          <a:bodyPr wrap="square">
            <a:spAutoFit/>
          </a:bodyPr>
          <a:lstStyle/>
          <a:p>
            <a:pPr algn="r"/>
            <a:r>
              <a:rPr sz="1000" b="0">
                <a:solidFill>
                  <a:srgbClr val="FFFFFF"/>
                </a:solidFill>
                <a:latin typeface="Calibri"/>
              </a:rPr>
              <a:t>3  /  20</a:t>
            </a:r>
          </a:p>
        </p:txBody>
      </p:sp>
      <p:sp>
        <p:nvSpPr>
          <p:cNvPr id="9" name="Rectangle 8"/>
          <p:cNvSpPr/>
          <p:nvPr/>
        </p:nvSpPr>
        <p:spPr>
          <a:xfrm>
            <a:off x="0" y="1124712"/>
            <a:ext cx="12191695" cy="553212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7200" y="1554480"/>
            <a:ext cx="3611880" cy="1920240"/>
          </a:xfrm>
          <a:prstGeom prst="roundRect">
            <a:avLst/>
          </a:prstGeom>
          <a:solidFill>
            <a:srgbClr val="FFFFFF"/>
          </a:solidFill>
          <a:ln w="12700">
            <a:solidFill>
              <a:srgbClr val="D5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783080"/>
            <a:ext cx="3108960" cy="457200"/>
          </a:xfrm>
          <a:prstGeom prst="rect">
            <a:avLst/>
          </a:prstGeom>
          <a:noFill/>
        </p:spPr>
        <p:txBody>
          <a:bodyPr wrap="square">
            <a:spAutoFit/>
          </a:bodyPr>
          <a:lstStyle/>
          <a:p>
            <a:pPr algn="l"/>
            <a:r>
              <a:rPr sz="2800" b="1">
                <a:solidFill>
                  <a:srgbClr val="E87722"/>
                </a:solidFill>
                <a:latin typeface="Calibri"/>
              </a:rPr>
              <a:t>01</a:t>
            </a:r>
          </a:p>
        </p:txBody>
      </p:sp>
      <p:sp>
        <p:nvSpPr>
          <p:cNvPr id="12" name="TextBox 11"/>
          <p:cNvSpPr txBox="1"/>
          <p:nvPr/>
        </p:nvSpPr>
        <p:spPr>
          <a:xfrm>
            <a:off x="685800" y="2331720"/>
            <a:ext cx="3108960" cy="365760"/>
          </a:xfrm>
          <a:prstGeom prst="rect">
            <a:avLst/>
          </a:prstGeom>
          <a:noFill/>
        </p:spPr>
        <p:txBody>
          <a:bodyPr wrap="square">
            <a:spAutoFit/>
          </a:bodyPr>
          <a:lstStyle/>
          <a:p>
            <a:pPr algn="l"/>
            <a:r>
              <a:rPr sz="2000" b="1">
                <a:solidFill>
                  <a:srgbClr val="0B2C4A"/>
                </a:solidFill>
                <a:latin typeface="Calibri"/>
              </a:rPr>
              <a:t>Context</a:t>
            </a:r>
          </a:p>
        </p:txBody>
      </p:sp>
      <p:sp>
        <p:nvSpPr>
          <p:cNvPr id="13" name="TextBox 12"/>
          <p:cNvSpPr txBox="1"/>
          <p:nvPr/>
        </p:nvSpPr>
        <p:spPr>
          <a:xfrm>
            <a:off x="685800" y="2743200"/>
            <a:ext cx="3108960" cy="548640"/>
          </a:xfrm>
          <a:prstGeom prst="rect">
            <a:avLst/>
          </a:prstGeom>
          <a:noFill/>
        </p:spPr>
        <p:txBody>
          <a:bodyPr wrap="square">
            <a:spAutoFit/>
          </a:bodyPr>
          <a:lstStyle/>
          <a:p>
            <a:pPr algn="l"/>
            <a:r>
              <a:rPr sz="1400" b="0">
                <a:solidFill>
                  <a:srgbClr val="5B6775"/>
                </a:solidFill>
                <a:latin typeface="Calibri"/>
              </a:rPr>
              <a:t>Team charter and current test shape</a:t>
            </a:r>
          </a:p>
        </p:txBody>
      </p:sp>
      <p:sp>
        <p:nvSpPr>
          <p:cNvPr id="14" name="Rounded Rectangle 13"/>
          <p:cNvSpPr/>
          <p:nvPr/>
        </p:nvSpPr>
        <p:spPr>
          <a:xfrm>
            <a:off x="4297680" y="1554480"/>
            <a:ext cx="3611880" cy="1920240"/>
          </a:xfrm>
          <a:prstGeom prst="roundRect">
            <a:avLst/>
          </a:prstGeom>
          <a:solidFill>
            <a:srgbClr val="FFFFFF"/>
          </a:solidFill>
          <a:ln w="12700">
            <a:solidFill>
              <a:srgbClr val="D5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6280" y="1783080"/>
            <a:ext cx="3108960" cy="457200"/>
          </a:xfrm>
          <a:prstGeom prst="rect">
            <a:avLst/>
          </a:prstGeom>
          <a:noFill/>
        </p:spPr>
        <p:txBody>
          <a:bodyPr wrap="square">
            <a:spAutoFit/>
          </a:bodyPr>
          <a:lstStyle/>
          <a:p>
            <a:pPr algn="l"/>
            <a:r>
              <a:rPr sz="2800" b="1">
                <a:solidFill>
                  <a:srgbClr val="E87722"/>
                </a:solidFill>
                <a:latin typeface="Calibri"/>
              </a:rPr>
              <a:t>02</a:t>
            </a:r>
          </a:p>
        </p:txBody>
      </p:sp>
      <p:sp>
        <p:nvSpPr>
          <p:cNvPr id="16" name="TextBox 15"/>
          <p:cNvSpPr txBox="1"/>
          <p:nvPr/>
        </p:nvSpPr>
        <p:spPr>
          <a:xfrm>
            <a:off x="4526280" y="2331720"/>
            <a:ext cx="3108960" cy="365760"/>
          </a:xfrm>
          <a:prstGeom prst="rect">
            <a:avLst/>
          </a:prstGeom>
          <a:noFill/>
        </p:spPr>
        <p:txBody>
          <a:bodyPr wrap="square">
            <a:spAutoFit/>
          </a:bodyPr>
          <a:lstStyle/>
          <a:p>
            <a:pPr algn="l"/>
            <a:r>
              <a:rPr sz="2000" b="1">
                <a:solidFill>
                  <a:srgbClr val="0B2C4A"/>
                </a:solidFill>
                <a:latin typeface="Calibri"/>
              </a:rPr>
              <a:t>Market research</a:t>
            </a:r>
          </a:p>
        </p:txBody>
      </p:sp>
      <p:sp>
        <p:nvSpPr>
          <p:cNvPr id="17" name="TextBox 16"/>
          <p:cNvSpPr txBox="1"/>
          <p:nvPr/>
        </p:nvSpPr>
        <p:spPr>
          <a:xfrm>
            <a:off x="4526280" y="2743200"/>
            <a:ext cx="3108960" cy="548640"/>
          </a:xfrm>
          <a:prstGeom prst="rect">
            <a:avLst/>
          </a:prstGeom>
          <a:noFill/>
        </p:spPr>
        <p:txBody>
          <a:bodyPr wrap="square">
            <a:spAutoFit/>
          </a:bodyPr>
          <a:lstStyle/>
          <a:p>
            <a:pPr algn="l"/>
            <a:r>
              <a:rPr sz="1400" b="0">
                <a:solidFill>
                  <a:srgbClr val="5B6775"/>
                </a:solidFill>
                <a:latin typeface="Calibri"/>
              </a:rPr>
              <a:t>How industry defines and funds integration testing</a:t>
            </a:r>
          </a:p>
        </p:txBody>
      </p:sp>
      <p:sp>
        <p:nvSpPr>
          <p:cNvPr id="18" name="Rounded Rectangle 17"/>
          <p:cNvSpPr/>
          <p:nvPr/>
        </p:nvSpPr>
        <p:spPr>
          <a:xfrm>
            <a:off x="8138160" y="1554480"/>
            <a:ext cx="3611880" cy="1920240"/>
          </a:xfrm>
          <a:prstGeom prst="roundRect">
            <a:avLst/>
          </a:prstGeom>
          <a:solidFill>
            <a:srgbClr val="FFFFFF"/>
          </a:solidFill>
          <a:ln w="12700">
            <a:solidFill>
              <a:srgbClr val="D5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66760" y="1783080"/>
            <a:ext cx="3108960" cy="457200"/>
          </a:xfrm>
          <a:prstGeom prst="rect">
            <a:avLst/>
          </a:prstGeom>
          <a:noFill/>
        </p:spPr>
        <p:txBody>
          <a:bodyPr wrap="square">
            <a:spAutoFit/>
          </a:bodyPr>
          <a:lstStyle/>
          <a:p>
            <a:pPr algn="l"/>
            <a:r>
              <a:rPr sz="2800" b="1">
                <a:solidFill>
                  <a:srgbClr val="E87722"/>
                </a:solidFill>
                <a:latin typeface="Calibri"/>
              </a:rPr>
              <a:t>03</a:t>
            </a:r>
          </a:p>
        </p:txBody>
      </p:sp>
      <p:sp>
        <p:nvSpPr>
          <p:cNvPr id="20" name="TextBox 19"/>
          <p:cNvSpPr txBox="1"/>
          <p:nvPr/>
        </p:nvSpPr>
        <p:spPr>
          <a:xfrm>
            <a:off x="8366760" y="2331720"/>
            <a:ext cx="3108960" cy="365760"/>
          </a:xfrm>
          <a:prstGeom prst="rect">
            <a:avLst/>
          </a:prstGeom>
          <a:noFill/>
        </p:spPr>
        <p:txBody>
          <a:bodyPr wrap="square">
            <a:spAutoFit/>
          </a:bodyPr>
          <a:lstStyle/>
          <a:p>
            <a:pPr algn="l"/>
            <a:r>
              <a:rPr sz="2000" b="1">
                <a:solidFill>
                  <a:srgbClr val="0B2C4A"/>
                </a:solidFill>
                <a:latin typeface="Calibri"/>
              </a:rPr>
              <a:t>Analogues</a:t>
            </a:r>
          </a:p>
        </p:txBody>
      </p:sp>
      <p:sp>
        <p:nvSpPr>
          <p:cNvPr id="21" name="TextBox 20"/>
          <p:cNvSpPr txBox="1"/>
          <p:nvPr/>
        </p:nvSpPr>
        <p:spPr>
          <a:xfrm>
            <a:off x="8366760" y="2743200"/>
            <a:ext cx="3108960" cy="548640"/>
          </a:xfrm>
          <a:prstGeom prst="rect">
            <a:avLst/>
          </a:prstGeom>
          <a:noFill/>
        </p:spPr>
        <p:txBody>
          <a:bodyPr wrap="square">
            <a:spAutoFit/>
          </a:bodyPr>
          <a:lstStyle/>
          <a:p>
            <a:pPr algn="l"/>
            <a:r>
              <a:rPr sz="1400" b="0">
                <a:solidFill>
                  <a:srgbClr val="5B6775"/>
                </a:solidFill>
                <a:latin typeface="Calibri"/>
              </a:rPr>
              <a:t>Compilers (LLVM/GCC/TI) and automotive MBD (TargetLink/BTC)</a:t>
            </a:r>
          </a:p>
        </p:txBody>
      </p:sp>
      <p:sp>
        <p:nvSpPr>
          <p:cNvPr id="22" name="Rounded Rectangle 21"/>
          <p:cNvSpPr/>
          <p:nvPr/>
        </p:nvSpPr>
        <p:spPr>
          <a:xfrm>
            <a:off x="457200" y="3749040"/>
            <a:ext cx="3611880" cy="1920240"/>
          </a:xfrm>
          <a:prstGeom prst="roundRect">
            <a:avLst/>
          </a:prstGeom>
          <a:solidFill>
            <a:srgbClr val="FFFFFF"/>
          </a:solidFill>
          <a:ln w="12700">
            <a:solidFill>
              <a:srgbClr val="D5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3977640"/>
            <a:ext cx="3108960" cy="457200"/>
          </a:xfrm>
          <a:prstGeom prst="rect">
            <a:avLst/>
          </a:prstGeom>
          <a:noFill/>
        </p:spPr>
        <p:txBody>
          <a:bodyPr wrap="square">
            <a:spAutoFit/>
          </a:bodyPr>
          <a:lstStyle/>
          <a:p>
            <a:pPr algn="l"/>
            <a:r>
              <a:rPr sz="2800" b="1">
                <a:solidFill>
                  <a:srgbClr val="E87722"/>
                </a:solidFill>
                <a:latin typeface="Calibri"/>
              </a:rPr>
              <a:t>04</a:t>
            </a:r>
          </a:p>
        </p:txBody>
      </p:sp>
      <p:sp>
        <p:nvSpPr>
          <p:cNvPr id="24" name="TextBox 23"/>
          <p:cNvSpPr txBox="1"/>
          <p:nvPr/>
        </p:nvSpPr>
        <p:spPr>
          <a:xfrm>
            <a:off x="685800" y="4526280"/>
            <a:ext cx="3108960" cy="365760"/>
          </a:xfrm>
          <a:prstGeom prst="rect">
            <a:avLst/>
          </a:prstGeom>
          <a:noFill/>
        </p:spPr>
        <p:txBody>
          <a:bodyPr wrap="square">
            <a:spAutoFit/>
          </a:bodyPr>
          <a:lstStyle/>
          <a:p>
            <a:pPr algn="l"/>
            <a:r>
              <a:rPr sz="2000" b="1">
                <a:solidFill>
                  <a:srgbClr val="0B2C4A"/>
                </a:solidFill>
                <a:latin typeface="Calibri"/>
              </a:rPr>
              <a:t>Gap analysis</a:t>
            </a:r>
          </a:p>
        </p:txBody>
      </p:sp>
      <p:sp>
        <p:nvSpPr>
          <p:cNvPr id="25" name="TextBox 24"/>
          <p:cNvSpPr txBox="1"/>
          <p:nvPr/>
        </p:nvSpPr>
        <p:spPr>
          <a:xfrm>
            <a:off x="685800" y="4937760"/>
            <a:ext cx="3108960" cy="548640"/>
          </a:xfrm>
          <a:prstGeom prst="rect">
            <a:avLst/>
          </a:prstGeom>
          <a:noFill/>
        </p:spPr>
        <p:txBody>
          <a:bodyPr wrap="square">
            <a:spAutoFit/>
          </a:bodyPr>
          <a:lstStyle/>
          <a:p>
            <a:pPr algn="l"/>
            <a:r>
              <a:rPr sz="1400" b="0">
                <a:solidFill>
                  <a:srgbClr val="5B6775"/>
                </a:solidFill>
                <a:latin typeface="Calibri"/>
              </a:rPr>
              <a:t>What our SIL-heavy suite is actually covering — and missing</a:t>
            </a:r>
          </a:p>
        </p:txBody>
      </p:sp>
      <p:sp>
        <p:nvSpPr>
          <p:cNvPr id="26" name="Rounded Rectangle 25"/>
          <p:cNvSpPr/>
          <p:nvPr/>
        </p:nvSpPr>
        <p:spPr>
          <a:xfrm>
            <a:off x="4297680" y="3749040"/>
            <a:ext cx="3611880" cy="1920240"/>
          </a:xfrm>
          <a:prstGeom prst="roundRect">
            <a:avLst/>
          </a:prstGeom>
          <a:solidFill>
            <a:srgbClr val="FFFFFF"/>
          </a:solidFill>
          <a:ln w="12700">
            <a:solidFill>
              <a:srgbClr val="D5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26280" y="3977640"/>
            <a:ext cx="3108960" cy="457200"/>
          </a:xfrm>
          <a:prstGeom prst="rect">
            <a:avLst/>
          </a:prstGeom>
          <a:noFill/>
        </p:spPr>
        <p:txBody>
          <a:bodyPr wrap="square">
            <a:spAutoFit/>
          </a:bodyPr>
          <a:lstStyle/>
          <a:p>
            <a:pPr algn="l"/>
            <a:r>
              <a:rPr sz="2800" b="1">
                <a:solidFill>
                  <a:srgbClr val="E87722"/>
                </a:solidFill>
                <a:latin typeface="Calibri"/>
              </a:rPr>
              <a:t>05</a:t>
            </a:r>
          </a:p>
        </p:txBody>
      </p:sp>
      <p:sp>
        <p:nvSpPr>
          <p:cNvPr id="28" name="TextBox 27"/>
          <p:cNvSpPr txBox="1"/>
          <p:nvPr/>
        </p:nvSpPr>
        <p:spPr>
          <a:xfrm>
            <a:off x="4526280" y="4526280"/>
            <a:ext cx="3108960" cy="365760"/>
          </a:xfrm>
          <a:prstGeom prst="rect">
            <a:avLst/>
          </a:prstGeom>
          <a:noFill/>
        </p:spPr>
        <p:txBody>
          <a:bodyPr wrap="square">
            <a:spAutoFit/>
          </a:bodyPr>
          <a:lstStyle/>
          <a:p>
            <a:pPr algn="l"/>
            <a:r>
              <a:rPr sz="2000" b="1">
                <a:solidFill>
                  <a:srgbClr val="0B2C4A"/>
                </a:solidFill>
                <a:latin typeface="Calibri"/>
              </a:rPr>
              <a:t>Proposal</a:t>
            </a:r>
          </a:p>
        </p:txBody>
      </p:sp>
      <p:sp>
        <p:nvSpPr>
          <p:cNvPr id="29" name="TextBox 28"/>
          <p:cNvSpPr txBox="1"/>
          <p:nvPr/>
        </p:nvSpPr>
        <p:spPr>
          <a:xfrm>
            <a:off x="4526280" y="4937760"/>
            <a:ext cx="3108960" cy="548640"/>
          </a:xfrm>
          <a:prstGeom prst="rect">
            <a:avLst/>
          </a:prstGeom>
          <a:noFill/>
        </p:spPr>
        <p:txBody>
          <a:bodyPr wrap="square">
            <a:spAutoFit/>
          </a:bodyPr>
          <a:lstStyle/>
          <a:p>
            <a:pPr algn="l"/>
            <a:r>
              <a:rPr sz="1400" b="0">
                <a:solidFill>
                  <a:srgbClr val="5B6775"/>
                </a:solidFill>
                <a:latin typeface="Calibri"/>
              </a:rPr>
              <a:t>A Code Efficiency integration layer, CI policy, and pilot</a:t>
            </a:r>
          </a:p>
        </p:txBody>
      </p:sp>
      <p:sp>
        <p:nvSpPr>
          <p:cNvPr id="30" name="Rounded Rectangle 29"/>
          <p:cNvSpPr/>
          <p:nvPr/>
        </p:nvSpPr>
        <p:spPr>
          <a:xfrm>
            <a:off x="8138160" y="3749040"/>
            <a:ext cx="3611880" cy="1920240"/>
          </a:xfrm>
          <a:prstGeom prst="roundRect">
            <a:avLst/>
          </a:prstGeom>
          <a:solidFill>
            <a:srgbClr val="FFFFFF"/>
          </a:solidFill>
          <a:ln w="12700">
            <a:solidFill>
              <a:srgbClr val="D5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66760" y="3977640"/>
            <a:ext cx="3108960" cy="457200"/>
          </a:xfrm>
          <a:prstGeom prst="rect">
            <a:avLst/>
          </a:prstGeom>
          <a:noFill/>
        </p:spPr>
        <p:txBody>
          <a:bodyPr wrap="square">
            <a:spAutoFit/>
          </a:bodyPr>
          <a:lstStyle/>
          <a:p>
            <a:pPr algn="l"/>
            <a:r>
              <a:rPr sz="2800" b="1">
                <a:solidFill>
                  <a:srgbClr val="E87722"/>
                </a:solidFill>
                <a:latin typeface="Calibri"/>
              </a:rPr>
              <a:t>06</a:t>
            </a:r>
          </a:p>
        </p:txBody>
      </p:sp>
      <p:sp>
        <p:nvSpPr>
          <p:cNvPr id="32" name="TextBox 31"/>
          <p:cNvSpPr txBox="1"/>
          <p:nvPr/>
        </p:nvSpPr>
        <p:spPr>
          <a:xfrm>
            <a:off x="8366760" y="4526280"/>
            <a:ext cx="3108960" cy="365760"/>
          </a:xfrm>
          <a:prstGeom prst="rect">
            <a:avLst/>
          </a:prstGeom>
          <a:noFill/>
        </p:spPr>
        <p:txBody>
          <a:bodyPr wrap="square">
            <a:spAutoFit/>
          </a:bodyPr>
          <a:lstStyle/>
          <a:p>
            <a:pPr algn="l"/>
            <a:r>
              <a:rPr sz="2000" b="1">
                <a:solidFill>
                  <a:srgbClr val="0B2C4A"/>
                </a:solidFill>
                <a:latin typeface="Calibri"/>
              </a:rPr>
              <a:t>Decision</a:t>
            </a:r>
          </a:p>
        </p:txBody>
      </p:sp>
      <p:sp>
        <p:nvSpPr>
          <p:cNvPr id="33" name="TextBox 32"/>
          <p:cNvSpPr txBox="1"/>
          <p:nvPr/>
        </p:nvSpPr>
        <p:spPr>
          <a:xfrm>
            <a:off x="8366760" y="4937760"/>
            <a:ext cx="3108960" cy="548640"/>
          </a:xfrm>
          <a:prstGeom prst="rect">
            <a:avLst/>
          </a:prstGeom>
          <a:noFill/>
        </p:spPr>
        <p:txBody>
          <a:bodyPr wrap="square">
            <a:spAutoFit/>
          </a:bodyPr>
          <a:lstStyle/>
          <a:p>
            <a:pPr algn="l"/>
            <a:r>
              <a:rPr sz="1400" b="0">
                <a:solidFill>
                  <a:srgbClr val="5B6775"/>
                </a:solidFill>
                <a:latin typeface="Calibri"/>
              </a:rPr>
              <a:t>What I need from you to start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73152"/>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10972800" cy="457200"/>
          </a:xfrm>
          <a:prstGeom prst="rect">
            <a:avLst/>
          </a:prstGeom>
          <a:noFill/>
        </p:spPr>
        <p:txBody>
          <a:bodyPr wrap="square">
            <a:spAutoFit/>
          </a:bodyPr>
          <a:lstStyle/>
          <a:p>
            <a:pPr algn="l"/>
            <a:r>
              <a:rPr sz="2800" b="1">
                <a:solidFill>
                  <a:srgbClr val="FFFFFF"/>
                </a:solidFill>
                <a:latin typeface="Calibri"/>
              </a:rPr>
              <a:t>Team context: Code Efficiency</a:t>
            </a:r>
          </a:p>
        </p:txBody>
      </p:sp>
      <p:sp>
        <p:nvSpPr>
          <p:cNvPr id="5" name="TextBox 4"/>
          <p:cNvSpPr txBox="1"/>
          <p:nvPr/>
        </p:nvSpPr>
        <p:spPr>
          <a:xfrm>
            <a:off x="457200" y="621792"/>
            <a:ext cx="10972800" cy="320040"/>
          </a:xfrm>
          <a:prstGeom prst="rect">
            <a:avLst/>
          </a:prstGeom>
          <a:noFill/>
        </p:spPr>
        <p:txBody>
          <a:bodyPr wrap="square">
            <a:spAutoFit/>
          </a:bodyPr>
          <a:lstStyle/>
          <a:p>
            <a:pPr algn="l"/>
            <a:r>
              <a:rPr sz="1400" b="0">
                <a:solidFill>
                  <a:srgbClr val="C9D7E5"/>
                </a:solidFill>
                <a:latin typeface="Calibri"/>
              </a:rPr>
              <a:t>What we own, and therefore what we must test</a:t>
            </a:r>
          </a:p>
        </p:txBody>
      </p:sp>
      <p:sp>
        <p:nvSpPr>
          <p:cNvPr id="6" name="Rectangle 5"/>
          <p:cNvSpPr/>
          <p:nvPr/>
        </p:nvSpPr>
        <p:spPr>
          <a:xfrm>
            <a:off x="0" y="6656832"/>
            <a:ext cx="12191695" cy="20116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647688"/>
            <a:ext cx="9144000" cy="201168"/>
          </a:xfrm>
          <a:prstGeom prst="rect">
            <a:avLst/>
          </a:prstGeom>
          <a:noFill/>
        </p:spPr>
        <p:txBody>
          <a:bodyPr wrap="square">
            <a:spAutoFit/>
          </a:bodyPr>
          <a:lstStyle/>
          <a:p>
            <a:pPr algn="l"/>
            <a:r>
              <a:rPr sz="1000" b="0">
                <a:solidFill>
                  <a:srgbClr val="FFFFFF"/>
                </a:solidFill>
                <a:latin typeface="Calibri"/>
              </a:rPr>
              <a:t>Embedded Coder  ·  Code Efficiency  ·  Integration Testing Proposal  ·  Internal</a:t>
            </a:r>
          </a:p>
        </p:txBody>
      </p:sp>
      <p:sp>
        <p:nvSpPr>
          <p:cNvPr id="8" name="TextBox 7"/>
          <p:cNvSpPr txBox="1"/>
          <p:nvPr/>
        </p:nvSpPr>
        <p:spPr>
          <a:xfrm>
            <a:off x="10607040" y="6647688"/>
            <a:ext cx="1280160" cy="201168"/>
          </a:xfrm>
          <a:prstGeom prst="rect">
            <a:avLst/>
          </a:prstGeom>
          <a:noFill/>
        </p:spPr>
        <p:txBody>
          <a:bodyPr wrap="square">
            <a:spAutoFit/>
          </a:bodyPr>
          <a:lstStyle/>
          <a:p>
            <a:pPr algn="r"/>
            <a:r>
              <a:rPr sz="1000" b="0">
                <a:solidFill>
                  <a:srgbClr val="FFFFFF"/>
                </a:solidFill>
                <a:latin typeface="Calibri"/>
              </a:rPr>
              <a:t>4  /  20</a:t>
            </a:r>
          </a:p>
        </p:txBody>
      </p:sp>
      <p:sp>
        <p:nvSpPr>
          <p:cNvPr id="9" name="Rectangle 8"/>
          <p:cNvSpPr/>
          <p:nvPr/>
        </p:nvSpPr>
        <p:spPr>
          <a:xfrm>
            <a:off x="0" y="1124712"/>
            <a:ext cx="12191695" cy="553212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11480" y="1417320"/>
            <a:ext cx="3703320" cy="3657600"/>
          </a:xfrm>
          <a:prstGeom prst="roundRect">
            <a:avLst/>
          </a:prstGeom>
          <a:solidFill>
            <a:srgbClr val="FFFFFF"/>
          </a:solidFill>
          <a:ln w="12700">
            <a:solidFill>
              <a:srgbClr val="D5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11480" y="1417320"/>
            <a:ext cx="370332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737360"/>
            <a:ext cx="3246120" cy="914400"/>
          </a:xfrm>
          <a:prstGeom prst="rect">
            <a:avLst/>
          </a:prstGeom>
          <a:noFill/>
        </p:spPr>
        <p:txBody>
          <a:bodyPr wrap="square">
            <a:spAutoFit/>
          </a:bodyPr>
          <a:lstStyle/>
          <a:p>
            <a:pPr algn="l"/>
            <a:r>
              <a:rPr sz="2000" b="1">
                <a:solidFill>
                  <a:srgbClr val="0B2C4A"/>
                </a:solidFill>
                <a:latin typeface="Calibri"/>
              </a:rPr>
              <a:t>Generated-code efficiency</a:t>
            </a:r>
          </a:p>
        </p:txBody>
      </p:sp>
      <p:sp>
        <p:nvSpPr>
          <p:cNvPr id="13" name="TextBox 12"/>
          <p:cNvSpPr txBox="1"/>
          <p:nvPr/>
        </p:nvSpPr>
        <p:spPr>
          <a:xfrm>
            <a:off x="640080" y="2743200"/>
            <a:ext cx="3246120" cy="2011680"/>
          </a:xfrm>
          <a:prstGeom prst="rect">
            <a:avLst/>
          </a:prstGeom>
          <a:noFill/>
        </p:spPr>
        <p:txBody>
          <a:bodyPr wrap="square">
            <a:spAutoFit/>
          </a:bodyPr>
          <a:lstStyle/>
          <a:p>
            <a:pPr algn="l"/>
            <a:r>
              <a:rPr sz="1500" b="0">
                <a:solidFill>
                  <a:srgbClr val="5B6775"/>
                </a:solidFill>
                <a:latin typeface="Calibri"/>
              </a:rPr>
              <a:t>Optimizations that reduce ROM, RAM, copies, stack, and execution time: buffer reuse, expression folding, inlining, loop transforms, SIMD, parallel for, saturation/protection stripping.</a:t>
            </a:r>
          </a:p>
        </p:txBody>
      </p:sp>
      <p:sp>
        <p:nvSpPr>
          <p:cNvPr id="14" name="Rounded Rectangle 13"/>
          <p:cNvSpPr/>
          <p:nvPr/>
        </p:nvSpPr>
        <p:spPr>
          <a:xfrm>
            <a:off x="4297680" y="1417320"/>
            <a:ext cx="3703320" cy="3657600"/>
          </a:xfrm>
          <a:prstGeom prst="roundRect">
            <a:avLst/>
          </a:prstGeom>
          <a:solidFill>
            <a:srgbClr val="FFFFFF"/>
          </a:solidFill>
          <a:ln w="12700">
            <a:solidFill>
              <a:srgbClr val="D5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1417320"/>
            <a:ext cx="3703320" cy="109728"/>
          </a:xfrm>
          <a:prstGeom prst="rect">
            <a:avLst/>
          </a:prstGeom>
          <a:solidFill>
            <a:srgbClr val="0D7A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26280" y="1737360"/>
            <a:ext cx="3246120" cy="914400"/>
          </a:xfrm>
          <a:prstGeom prst="rect">
            <a:avLst/>
          </a:prstGeom>
          <a:noFill/>
        </p:spPr>
        <p:txBody>
          <a:bodyPr wrap="square">
            <a:spAutoFit/>
          </a:bodyPr>
          <a:lstStyle/>
          <a:p>
            <a:pPr algn="l"/>
            <a:r>
              <a:rPr sz="2000" b="1">
                <a:solidFill>
                  <a:srgbClr val="0B2C4A"/>
                </a:solidFill>
                <a:latin typeface="Calibri"/>
              </a:rPr>
              <a:t>Codegen workflows &amp; infra</a:t>
            </a:r>
          </a:p>
        </p:txBody>
      </p:sp>
      <p:sp>
        <p:nvSpPr>
          <p:cNvPr id="17" name="TextBox 16"/>
          <p:cNvSpPr txBox="1"/>
          <p:nvPr/>
        </p:nvSpPr>
        <p:spPr>
          <a:xfrm>
            <a:off x="4526280" y="2743200"/>
            <a:ext cx="3246120" cy="2011680"/>
          </a:xfrm>
          <a:prstGeom prst="rect">
            <a:avLst/>
          </a:prstGeom>
          <a:noFill/>
        </p:spPr>
        <p:txBody>
          <a:bodyPr wrap="square">
            <a:spAutoFit/>
          </a:bodyPr>
          <a:lstStyle/>
          <a:p>
            <a:pPr algn="l"/>
            <a:r>
              <a:rPr sz="1500" b="0">
                <a:solidFill>
                  <a:srgbClr val="5B6775"/>
                </a:solidFill>
                <a:latin typeface="Calibri"/>
              </a:rPr>
              <a:t>Configuration objectives, Code Generation Advisor, static metrics, reports, traceability, and productivity tooling that sit on the codegen path.</a:t>
            </a:r>
          </a:p>
        </p:txBody>
      </p:sp>
      <p:sp>
        <p:nvSpPr>
          <p:cNvPr id="18" name="Rounded Rectangle 17"/>
          <p:cNvSpPr/>
          <p:nvPr/>
        </p:nvSpPr>
        <p:spPr>
          <a:xfrm>
            <a:off x="8183880" y="1417320"/>
            <a:ext cx="3703320" cy="3657600"/>
          </a:xfrm>
          <a:prstGeom prst="roundRect">
            <a:avLst/>
          </a:prstGeom>
          <a:solidFill>
            <a:srgbClr val="FFFFFF"/>
          </a:solidFill>
          <a:ln w="12700">
            <a:solidFill>
              <a:srgbClr val="D5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83880" y="1417320"/>
            <a:ext cx="3703320" cy="10972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80" y="1737360"/>
            <a:ext cx="3246120" cy="914400"/>
          </a:xfrm>
          <a:prstGeom prst="rect">
            <a:avLst/>
          </a:prstGeom>
          <a:noFill/>
        </p:spPr>
        <p:txBody>
          <a:bodyPr wrap="square">
            <a:spAutoFit/>
          </a:bodyPr>
          <a:lstStyle/>
          <a:p>
            <a:pPr algn="l"/>
            <a:r>
              <a:rPr sz="2000" b="1">
                <a:solidFill>
                  <a:srgbClr val="0B2C4A"/>
                </a:solidFill>
                <a:latin typeface="Calibri"/>
              </a:rPr>
              <a:t>Engineering quality</a:t>
            </a:r>
          </a:p>
        </p:txBody>
      </p:sp>
      <p:sp>
        <p:nvSpPr>
          <p:cNvPr id="21" name="TextBox 20"/>
          <p:cNvSpPr txBox="1"/>
          <p:nvPr/>
        </p:nvSpPr>
        <p:spPr>
          <a:xfrm>
            <a:off x="8412480" y="2743200"/>
            <a:ext cx="3246120" cy="2011680"/>
          </a:xfrm>
          <a:prstGeom prst="rect">
            <a:avLst/>
          </a:prstGeom>
          <a:noFill/>
        </p:spPr>
        <p:txBody>
          <a:bodyPr wrap="square">
            <a:spAutoFit/>
          </a:bodyPr>
          <a:lstStyle/>
          <a:p>
            <a:pPr algn="l"/>
            <a:r>
              <a:rPr sz="1500" b="0">
                <a:solidFill>
                  <a:srgbClr val="5B6775"/>
                </a:solidFill>
                <a:latin typeface="Calibri"/>
              </a:rPr>
              <a:t>Processes that keep codegen products shippable: regression signal, localization, and preventing “optimization vs correctness” regressions.</a:t>
            </a:r>
          </a:p>
        </p:txBody>
      </p:sp>
      <p:sp>
        <p:nvSpPr>
          <p:cNvPr id="22" name="TextBox 21"/>
          <p:cNvSpPr txBox="1"/>
          <p:nvPr/>
        </p:nvSpPr>
        <p:spPr>
          <a:xfrm>
            <a:off x="457200" y="5303520"/>
            <a:ext cx="11247120" cy="1005840"/>
          </a:xfrm>
          <a:prstGeom prst="rect">
            <a:avLst/>
          </a:prstGeom>
          <a:noFill/>
        </p:spPr>
        <p:txBody>
          <a:bodyPr wrap="square">
            <a:spAutoFit/>
          </a:bodyPr>
          <a:lstStyle/>
          <a:p>
            <a:pPr algn="l"/>
            <a:r>
              <a:rPr sz="1500" b="0">
                <a:solidFill>
                  <a:srgbClr val="1C2430"/>
                </a:solidFill>
                <a:latin typeface="Calibri"/>
              </a:rPr>
              <a:t>Implication for QE: a test that only asks “SIL matches Normal mode” is necessary but not sufficient. Efficiency work also needs oracles for structure (did the transform fire?), metrics (did ROM/RAM/stack move the right way?), and legality (did we keep numerical / language semantics?).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73152"/>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10972800" cy="457200"/>
          </a:xfrm>
          <a:prstGeom prst="rect">
            <a:avLst/>
          </a:prstGeom>
          <a:noFill/>
        </p:spPr>
        <p:txBody>
          <a:bodyPr wrap="square">
            <a:spAutoFit/>
          </a:bodyPr>
          <a:lstStyle/>
          <a:p>
            <a:pPr algn="l"/>
            <a:r>
              <a:rPr sz="2800" b="1">
                <a:solidFill>
                  <a:srgbClr val="FFFFFF"/>
                </a:solidFill>
                <a:latin typeface="Calibri"/>
              </a:rPr>
              <a:t>Current test shape: an inverted pyramid</a:t>
            </a:r>
          </a:p>
        </p:txBody>
      </p:sp>
      <p:sp>
        <p:nvSpPr>
          <p:cNvPr id="5" name="TextBox 4"/>
          <p:cNvSpPr txBox="1"/>
          <p:nvPr/>
        </p:nvSpPr>
        <p:spPr>
          <a:xfrm>
            <a:off x="457200" y="621792"/>
            <a:ext cx="10972800" cy="320040"/>
          </a:xfrm>
          <a:prstGeom prst="rect">
            <a:avLst/>
          </a:prstGeom>
          <a:noFill/>
        </p:spPr>
        <p:txBody>
          <a:bodyPr wrap="square">
            <a:spAutoFit/>
          </a:bodyPr>
          <a:lstStyle/>
          <a:p>
            <a:pPr algn="l"/>
            <a:r>
              <a:rPr sz="1400" b="0">
                <a:solidFill>
                  <a:srgbClr val="C9D7E5"/>
                </a:solidFill>
                <a:latin typeface="Calibri"/>
              </a:rPr>
              <a:t>Not a people problem — a layering problem</a:t>
            </a:r>
          </a:p>
        </p:txBody>
      </p:sp>
      <p:sp>
        <p:nvSpPr>
          <p:cNvPr id="6" name="Rectangle 5"/>
          <p:cNvSpPr/>
          <p:nvPr/>
        </p:nvSpPr>
        <p:spPr>
          <a:xfrm>
            <a:off x="0" y="6656832"/>
            <a:ext cx="12191695" cy="20116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647688"/>
            <a:ext cx="9144000" cy="201168"/>
          </a:xfrm>
          <a:prstGeom prst="rect">
            <a:avLst/>
          </a:prstGeom>
          <a:noFill/>
        </p:spPr>
        <p:txBody>
          <a:bodyPr wrap="square">
            <a:spAutoFit/>
          </a:bodyPr>
          <a:lstStyle/>
          <a:p>
            <a:pPr algn="l"/>
            <a:r>
              <a:rPr sz="1000" b="0">
                <a:solidFill>
                  <a:srgbClr val="FFFFFF"/>
                </a:solidFill>
                <a:latin typeface="Calibri"/>
              </a:rPr>
              <a:t>Embedded Coder  ·  Code Efficiency  ·  Integration Testing Proposal  ·  Internal</a:t>
            </a:r>
          </a:p>
        </p:txBody>
      </p:sp>
      <p:sp>
        <p:nvSpPr>
          <p:cNvPr id="8" name="TextBox 7"/>
          <p:cNvSpPr txBox="1"/>
          <p:nvPr/>
        </p:nvSpPr>
        <p:spPr>
          <a:xfrm>
            <a:off x="10607040" y="6647688"/>
            <a:ext cx="1280160" cy="201168"/>
          </a:xfrm>
          <a:prstGeom prst="rect">
            <a:avLst/>
          </a:prstGeom>
          <a:noFill/>
        </p:spPr>
        <p:txBody>
          <a:bodyPr wrap="square">
            <a:spAutoFit/>
          </a:bodyPr>
          <a:lstStyle/>
          <a:p>
            <a:pPr algn="r"/>
            <a:r>
              <a:rPr sz="1000" b="0">
                <a:solidFill>
                  <a:srgbClr val="FFFFFF"/>
                </a:solidFill>
                <a:latin typeface="Calibri"/>
              </a:rPr>
              <a:t>5  /  20</a:t>
            </a:r>
          </a:p>
        </p:txBody>
      </p:sp>
      <p:sp>
        <p:nvSpPr>
          <p:cNvPr id="9" name="Rectangle 8"/>
          <p:cNvSpPr/>
          <p:nvPr/>
        </p:nvSpPr>
        <p:spPr>
          <a:xfrm>
            <a:off x="0" y="1124712"/>
            <a:ext cx="12191695" cy="553212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291840" y="1417320"/>
            <a:ext cx="5577840" cy="105156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91840" y="1737360"/>
            <a:ext cx="5577840" cy="457200"/>
          </a:xfrm>
          <a:prstGeom prst="rect">
            <a:avLst/>
          </a:prstGeom>
          <a:noFill/>
        </p:spPr>
        <p:txBody>
          <a:bodyPr wrap="square">
            <a:spAutoFit/>
          </a:bodyPr>
          <a:lstStyle/>
          <a:p>
            <a:pPr algn="ctr"/>
            <a:r>
              <a:rPr sz="1300" b="1">
                <a:solidFill>
                  <a:srgbClr val="FFFFFF"/>
                </a:solidFill>
                <a:latin typeface="Calibri"/>
              </a:rPr>
              <a:t>SYSTEM  ·  Full codegen + compile + SIL / PIL  ·  minutes–hours  ·  high localization cost</a:t>
            </a:r>
          </a:p>
        </p:txBody>
      </p:sp>
      <p:sp>
        <p:nvSpPr>
          <p:cNvPr id="12" name="Rounded Rectangle 11"/>
          <p:cNvSpPr/>
          <p:nvPr/>
        </p:nvSpPr>
        <p:spPr>
          <a:xfrm>
            <a:off x="3931920" y="2606040"/>
            <a:ext cx="4297680" cy="1051560"/>
          </a:xfrm>
          <a:prstGeom prst="roundRect">
            <a:avLst/>
          </a:prstGeom>
          <a:solidFill>
            <a:srgbClr val="C4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931920" y="2926080"/>
            <a:ext cx="4297680" cy="457200"/>
          </a:xfrm>
          <a:prstGeom prst="rect">
            <a:avLst/>
          </a:prstGeom>
          <a:noFill/>
        </p:spPr>
        <p:txBody>
          <a:bodyPr wrap="square">
            <a:spAutoFit/>
          </a:bodyPr>
          <a:lstStyle/>
          <a:p>
            <a:pPr algn="ctr"/>
            <a:r>
              <a:rPr sz="1300" b="1">
                <a:solidFill>
                  <a:srgbClr val="FFFFFF"/>
                </a:solidFill>
                <a:latin typeface="Calibri"/>
              </a:rPr>
              <a:t>INTEGRATION  ·  Thin / informal today  ·  the missing middle</a:t>
            </a:r>
          </a:p>
        </p:txBody>
      </p:sp>
      <p:sp>
        <p:nvSpPr>
          <p:cNvPr id="14" name="Rounded Rectangle 13"/>
          <p:cNvSpPr/>
          <p:nvPr/>
        </p:nvSpPr>
        <p:spPr>
          <a:xfrm>
            <a:off x="4572000" y="3794760"/>
            <a:ext cx="3017520" cy="1051560"/>
          </a:xfrm>
          <a:prstGeom prst="roundRect">
            <a:avLst/>
          </a:prstGeom>
          <a:solidFill>
            <a:srgbClr val="1F8A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4114800"/>
            <a:ext cx="3017520" cy="457200"/>
          </a:xfrm>
          <a:prstGeom prst="rect">
            <a:avLst/>
          </a:prstGeom>
          <a:noFill/>
        </p:spPr>
        <p:txBody>
          <a:bodyPr wrap="square">
            <a:spAutoFit/>
          </a:bodyPr>
          <a:lstStyle/>
          <a:p>
            <a:pPr algn="ctr"/>
            <a:r>
              <a:rPr sz="1300" b="1">
                <a:solidFill>
                  <a:srgbClr val="FFFFFF"/>
                </a:solidFill>
                <a:latin typeface="Calibri"/>
              </a:rPr>
              <a:t>UNIT  ·  Isolated transforms  ·  fast</a:t>
            </a:r>
          </a:p>
        </p:txBody>
      </p:sp>
      <p:sp>
        <p:nvSpPr>
          <p:cNvPr id="16" name="Rounded Rectangle 15"/>
          <p:cNvSpPr/>
          <p:nvPr/>
        </p:nvSpPr>
        <p:spPr>
          <a:xfrm>
            <a:off x="365760" y="5029200"/>
            <a:ext cx="11430000" cy="1371600"/>
          </a:xfrm>
          <a:prstGeom prst="roundRect">
            <a:avLst/>
          </a:prstGeom>
          <a:solidFill>
            <a:srgbClr val="FFFFFF"/>
          </a:solidFill>
          <a:ln w="12700">
            <a:solidFill>
              <a:srgbClr val="D5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5138928"/>
            <a:ext cx="11064240" cy="1188720"/>
          </a:xfrm>
          <a:prstGeom prst="rect">
            <a:avLst/>
          </a:prstGeom>
          <a:noFill/>
        </p:spPr>
        <p:txBody>
          <a:bodyPr wrap="square">
            <a:spAutoFit/>
          </a:bodyPr>
          <a:lstStyle/>
          <a:p>
            <a:pPr algn="l">
              <a:spcAft>
                <a:spcPts val="600"/>
              </a:spcAft>
            </a:pPr>
            <a:r>
              <a:rPr sz="1400" b="0">
                <a:solidFill>
                  <a:srgbClr val="1C2430"/>
                </a:solidFill>
                <a:latin typeface="Calibri"/>
              </a:rPr>
              <a:t>•  Industry target mix (Google SWE book): ~80% small/unit, ~15% medium/integration, ~5% large/E2E. Typical industry pyramid: 60–70 / 20–30 / 5–10.</a:t>
            </a:r>
          </a:p>
          <a:p>
            <a:pPr algn="l">
              <a:spcAft>
                <a:spcPts val="600"/>
              </a:spcAft>
            </a:pPr>
            <a:r>
              <a:rPr sz="1400" b="0">
                <a:solidFill>
                  <a:srgbClr val="1C2430"/>
                </a:solidFill>
                <a:latin typeface="Calibri"/>
              </a:rPr>
              <a:t>•  A SIL-heavy suite behaves like an ice-cream cone: slow, brittle, and expensive to diagnose. That is the #1 anti-pattern called out by Google, Microsoft, Fowler, and ISTQB-aligned guides.</a:t>
            </a:r>
          </a:p>
          <a:p>
            <a:pPr algn="l">
              <a:spcAft>
                <a:spcPts val="600"/>
              </a:spcAft>
            </a:pPr>
            <a:r>
              <a:rPr sz="1400" b="0">
                <a:solidFill>
                  <a:srgbClr val="1C2430"/>
                </a:solidFill>
                <a:latin typeface="Calibri"/>
              </a:rPr>
              <a:t>•  We should keep SIL. We should stop using it as the first test we write for every Code Efficiency change.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73152"/>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10972800" cy="457200"/>
          </a:xfrm>
          <a:prstGeom prst="rect">
            <a:avLst/>
          </a:prstGeom>
          <a:noFill/>
        </p:spPr>
        <p:txBody>
          <a:bodyPr wrap="square">
            <a:spAutoFit/>
          </a:bodyPr>
          <a:lstStyle/>
          <a:p>
            <a:pPr algn="l"/>
            <a:r>
              <a:rPr sz="2800" b="1">
                <a:solidFill>
                  <a:srgbClr val="FFFFFF"/>
                </a:solidFill>
                <a:latin typeface="Calibri"/>
              </a:rPr>
              <a:t>What industry means by integration testing</a:t>
            </a:r>
          </a:p>
        </p:txBody>
      </p:sp>
      <p:sp>
        <p:nvSpPr>
          <p:cNvPr id="5" name="TextBox 4"/>
          <p:cNvSpPr txBox="1"/>
          <p:nvPr/>
        </p:nvSpPr>
        <p:spPr>
          <a:xfrm>
            <a:off x="457200" y="621792"/>
            <a:ext cx="10972800" cy="320040"/>
          </a:xfrm>
          <a:prstGeom prst="rect">
            <a:avLst/>
          </a:prstGeom>
          <a:noFill/>
        </p:spPr>
        <p:txBody>
          <a:bodyPr wrap="square">
            <a:spAutoFit/>
          </a:bodyPr>
          <a:lstStyle/>
          <a:p>
            <a:pPr algn="l"/>
            <a:r>
              <a:rPr sz="1400" b="0">
                <a:solidFill>
                  <a:srgbClr val="C9D7E5"/>
                </a:solidFill>
                <a:latin typeface="Calibri"/>
              </a:rPr>
              <a:t>A distinct defect class — not a smaller system test</a:t>
            </a:r>
          </a:p>
        </p:txBody>
      </p:sp>
      <p:sp>
        <p:nvSpPr>
          <p:cNvPr id="6" name="Rectangle 5"/>
          <p:cNvSpPr/>
          <p:nvPr/>
        </p:nvSpPr>
        <p:spPr>
          <a:xfrm>
            <a:off x="0" y="6656832"/>
            <a:ext cx="12191695" cy="20116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647688"/>
            <a:ext cx="9144000" cy="201168"/>
          </a:xfrm>
          <a:prstGeom prst="rect">
            <a:avLst/>
          </a:prstGeom>
          <a:noFill/>
        </p:spPr>
        <p:txBody>
          <a:bodyPr wrap="square">
            <a:spAutoFit/>
          </a:bodyPr>
          <a:lstStyle/>
          <a:p>
            <a:pPr algn="l"/>
            <a:r>
              <a:rPr sz="1000" b="0">
                <a:solidFill>
                  <a:srgbClr val="FFFFFF"/>
                </a:solidFill>
                <a:latin typeface="Calibri"/>
              </a:rPr>
              <a:t>Embedded Coder  ·  Code Efficiency  ·  Integration Testing Proposal  ·  Internal</a:t>
            </a:r>
          </a:p>
        </p:txBody>
      </p:sp>
      <p:sp>
        <p:nvSpPr>
          <p:cNvPr id="8" name="TextBox 7"/>
          <p:cNvSpPr txBox="1"/>
          <p:nvPr/>
        </p:nvSpPr>
        <p:spPr>
          <a:xfrm>
            <a:off x="10607040" y="6647688"/>
            <a:ext cx="1280160" cy="201168"/>
          </a:xfrm>
          <a:prstGeom prst="rect">
            <a:avLst/>
          </a:prstGeom>
          <a:noFill/>
        </p:spPr>
        <p:txBody>
          <a:bodyPr wrap="square">
            <a:spAutoFit/>
          </a:bodyPr>
          <a:lstStyle/>
          <a:p>
            <a:pPr algn="r"/>
            <a:r>
              <a:rPr sz="1000" b="0">
                <a:solidFill>
                  <a:srgbClr val="FFFFFF"/>
                </a:solidFill>
                <a:latin typeface="Calibri"/>
              </a:rPr>
              <a:t>6  /  20</a:t>
            </a:r>
          </a:p>
        </p:txBody>
      </p:sp>
      <p:sp>
        <p:nvSpPr>
          <p:cNvPr id="9" name="Rectangle 8"/>
          <p:cNvSpPr/>
          <p:nvPr/>
        </p:nvSpPr>
        <p:spPr>
          <a:xfrm>
            <a:off x="0" y="1124712"/>
            <a:ext cx="12191695" cy="553212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1371600"/>
            <a:ext cx="1828800" cy="411480"/>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8912" y="1444752"/>
            <a:ext cx="1737360" cy="292608"/>
          </a:xfrm>
          <a:prstGeom prst="rect">
            <a:avLst/>
          </a:prstGeom>
          <a:noFill/>
        </p:spPr>
        <p:txBody>
          <a:bodyPr wrap="square">
            <a:spAutoFit/>
          </a:bodyPr>
          <a:lstStyle/>
          <a:p>
            <a:pPr algn="l"/>
            <a:r>
              <a:rPr sz="1300" b="1">
                <a:solidFill>
                  <a:srgbClr val="FFFFFF"/>
                </a:solidFill>
                <a:latin typeface="Calibri"/>
              </a:rPr>
              <a:t/>
            </a:r>
          </a:p>
        </p:txBody>
      </p:sp>
      <p:sp>
        <p:nvSpPr>
          <p:cNvPr id="12" name="Rectangle 11"/>
          <p:cNvSpPr/>
          <p:nvPr/>
        </p:nvSpPr>
        <p:spPr>
          <a:xfrm>
            <a:off x="2194560" y="1371600"/>
            <a:ext cx="3063240" cy="411480"/>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267712" y="1444752"/>
            <a:ext cx="2971800" cy="292608"/>
          </a:xfrm>
          <a:prstGeom prst="rect">
            <a:avLst/>
          </a:prstGeom>
          <a:noFill/>
        </p:spPr>
        <p:txBody>
          <a:bodyPr wrap="square">
            <a:spAutoFit/>
          </a:bodyPr>
          <a:lstStyle/>
          <a:p>
            <a:pPr algn="l"/>
            <a:r>
              <a:rPr sz="1300" b="1">
                <a:solidFill>
                  <a:srgbClr val="FFFFFF"/>
                </a:solidFill>
                <a:latin typeface="Calibri"/>
              </a:rPr>
              <a:t>Unit</a:t>
            </a:r>
          </a:p>
        </p:txBody>
      </p:sp>
      <p:sp>
        <p:nvSpPr>
          <p:cNvPr id="14" name="Rectangle 13"/>
          <p:cNvSpPr/>
          <p:nvPr/>
        </p:nvSpPr>
        <p:spPr>
          <a:xfrm>
            <a:off x="5257800" y="1371600"/>
            <a:ext cx="3246120" cy="411480"/>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30952" y="1444752"/>
            <a:ext cx="3154680" cy="292608"/>
          </a:xfrm>
          <a:prstGeom prst="rect">
            <a:avLst/>
          </a:prstGeom>
          <a:noFill/>
        </p:spPr>
        <p:txBody>
          <a:bodyPr wrap="square">
            <a:spAutoFit/>
          </a:bodyPr>
          <a:lstStyle/>
          <a:p>
            <a:pPr algn="l"/>
            <a:r>
              <a:rPr sz="1300" b="1">
                <a:solidFill>
                  <a:srgbClr val="FFFFFF"/>
                </a:solidFill>
                <a:latin typeface="Calibri"/>
              </a:rPr>
              <a:t>Integration</a:t>
            </a:r>
          </a:p>
        </p:txBody>
      </p:sp>
      <p:sp>
        <p:nvSpPr>
          <p:cNvPr id="16" name="Rectangle 15"/>
          <p:cNvSpPr/>
          <p:nvPr/>
        </p:nvSpPr>
        <p:spPr>
          <a:xfrm>
            <a:off x="8503920" y="1371600"/>
            <a:ext cx="3246120" cy="411480"/>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77072" y="1444752"/>
            <a:ext cx="3154680" cy="292608"/>
          </a:xfrm>
          <a:prstGeom prst="rect">
            <a:avLst/>
          </a:prstGeom>
          <a:noFill/>
        </p:spPr>
        <p:txBody>
          <a:bodyPr wrap="square">
            <a:spAutoFit/>
          </a:bodyPr>
          <a:lstStyle/>
          <a:p>
            <a:pPr algn="l"/>
            <a:r>
              <a:rPr sz="1300" b="1">
                <a:solidFill>
                  <a:srgbClr val="FFFFFF"/>
                </a:solidFill>
                <a:latin typeface="Calibri"/>
              </a:rPr>
              <a:t>System / E2E</a:t>
            </a:r>
          </a:p>
        </p:txBody>
      </p:sp>
      <p:sp>
        <p:nvSpPr>
          <p:cNvPr id="18" name="Rectangle 17"/>
          <p:cNvSpPr/>
          <p:nvPr/>
        </p:nvSpPr>
        <p:spPr>
          <a:xfrm>
            <a:off x="365760" y="1783080"/>
            <a:ext cx="182880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8912" y="1892808"/>
            <a:ext cx="1719072" cy="594360"/>
          </a:xfrm>
          <a:prstGeom prst="rect">
            <a:avLst/>
          </a:prstGeom>
          <a:noFill/>
        </p:spPr>
        <p:txBody>
          <a:bodyPr wrap="square">
            <a:spAutoFit/>
          </a:bodyPr>
          <a:lstStyle/>
          <a:p>
            <a:pPr algn="l"/>
            <a:r>
              <a:rPr sz="1200" b="1">
                <a:solidFill>
                  <a:srgbClr val="0B2C4A"/>
                </a:solidFill>
                <a:latin typeface="Calibri"/>
              </a:rPr>
              <a:t>Question</a:t>
            </a:r>
          </a:p>
        </p:txBody>
      </p:sp>
      <p:sp>
        <p:nvSpPr>
          <p:cNvPr id="20" name="Rectangle 19"/>
          <p:cNvSpPr/>
          <p:nvPr/>
        </p:nvSpPr>
        <p:spPr>
          <a:xfrm>
            <a:off x="2194560" y="1783080"/>
            <a:ext cx="306324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267712" y="1892808"/>
            <a:ext cx="2953512" cy="594360"/>
          </a:xfrm>
          <a:prstGeom prst="rect">
            <a:avLst/>
          </a:prstGeom>
          <a:noFill/>
        </p:spPr>
        <p:txBody>
          <a:bodyPr wrap="square">
            <a:spAutoFit/>
          </a:bodyPr>
          <a:lstStyle/>
          <a:p>
            <a:pPr algn="l"/>
            <a:r>
              <a:rPr sz="1200" b="0">
                <a:solidFill>
                  <a:srgbClr val="1C2430"/>
                </a:solidFill>
                <a:latin typeface="Calibri"/>
              </a:rPr>
              <a:t>Does this function do the right thing in isolation?</a:t>
            </a:r>
          </a:p>
        </p:txBody>
      </p:sp>
      <p:sp>
        <p:nvSpPr>
          <p:cNvPr id="22" name="Rectangle 21"/>
          <p:cNvSpPr/>
          <p:nvPr/>
        </p:nvSpPr>
        <p:spPr>
          <a:xfrm>
            <a:off x="5257800" y="1783080"/>
            <a:ext cx="324612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30952" y="1892808"/>
            <a:ext cx="3136392" cy="594360"/>
          </a:xfrm>
          <a:prstGeom prst="rect">
            <a:avLst/>
          </a:prstGeom>
          <a:noFill/>
        </p:spPr>
        <p:txBody>
          <a:bodyPr wrap="square">
            <a:spAutoFit/>
          </a:bodyPr>
          <a:lstStyle/>
          <a:p>
            <a:pPr algn="l"/>
            <a:r>
              <a:rPr sz="1200" b="0">
                <a:solidFill>
                  <a:srgbClr val="1C2430"/>
                </a:solidFill>
                <a:latin typeface="Calibri"/>
              </a:rPr>
              <a:t>Do two or more real components honor their interface?</a:t>
            </a:r>
          </a:p>
        </p:txBody>
      </p:sp>
      <p:sp>
        <p:nvSpPr>
          <p:cNvPr id="24" name="Rectangle 23"/>
          <p:cNvSpPr/>
          <p:nvPr/>
        </p:nvSpPr>
        <p:spPr>
          <a:xfrm>
            <a:off x="8503920" y="1783080"/>
            <a:ext cx="324612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77072" y="1892808"/>
            <a:ext cx="3136392" cy="594360"/>
          </a:xfrm>
          <a:prstGeom prst="rect">
            <a:avLst/>
          </a:prstGeom>
          <a:noFill/>
        </p:spPr>
        <p:txBody>
          <a:bodyPr wrap="square">
            <a:spAutoFit/>
          </a:bodyPr>
          <a:lstStyle/>
          <a:p>
            <a:pPr algn="l"/>
            <a:r>
              <a:rPr sz="1200" b="0">
                <a:solidFill>
                  <a:srgbClr val="1C2430"/>
                </a:solidFill>
                <a:latin typeface="Calibri"/>
              </a:rPr>
              <a:t>Does the whole product journey still work?</a:t>
            </a:r>
          </a:p>
        </p:txBody>
      </p:sp>
      <p:sp>
        <p:nvSpPr>
          <p:cNvPr id="26" name="Rectangle 25"/>
          <p:cNvSpPr/>
          <p:nvPr/>
        </p:nvSpPr>
        <p:spPr>
          <a:xfrm>
            <a:off x="365760" y="2560320"/>
            <a:ext cx="1828800" cy="777240"/>
          </a:xfrm>
          <a:prstGeom prst="rect">
            <a:avLst/>
          </a:prstGeom>
          <a:solidFill>
            <a:srgbClr val="EE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8912" y="2670048"/>
            <a:ext cx="1719072" cy="594360"/>
          </a:xfrm>
          <a:prstGeom prst="rect">
            <a:avLst/>
          </a:prstGeom>
          <a:noFill/>
        </p:spPr>
        <p:txBody>
          <a:bodyPr wrap="square">
            <a:spAutoFit/>
          </a:bodyPr>
          <a:lstStyle/>
          <a:p>
            <a:pPr algn="l"/>
            <a:r>
              <a:rPr sz="1200" b="1">
                <a:solidFill>
                  <a:srgbClr val="0B2C4A"/>
                </a:solidFill>
                <a:latin typeface="Calibri"/>
              </a:rPr>
              <a:t>Defect class</a:t>
            </a:r>
          </a:p>
        </p:txBody>
      </p:sp>
      <p:sp>
        <p:nvSpPr>
          <p:cNvPr id="28" name="Rectangle 27"/>
          <p:cNvSpPr/>
          <p:nvPr/>
        </p:nvSpPr>
        <p:spPr>
          <a:xfrm>
            <a:off x="2194560" y="2560320"/>
            <a:ext cx="3063240" cy="777240"/>
          </a:xfrm>
          <a:prstGeom prst="rect">
            <a:avLst/>
          </a:prstGeom>
          <a:solidFill>
            <a:srgbClr val="EE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267712" y="2670048"/>
            <a:ext cx="2953512" cy="594360"/>
          </a:xfrm>
          <a:prstGeom prst="rect">
            <a:avLst/>
          </a:prstGeom>
          <a:noFill/>
        </p:spPr>
        <p:txBody>
          <a:bodyPr wrap="square">
            <a:spAutoFit/>
          </a:bodyPr>
          <a:lstStyle/>
          <a:p>
            <a:pPr algn="l"/>
            <a:r>
              <a:rPr sz="1200" b="0">
                <a:solidFill>
                  <a:srgbClr val="1C2430"/>
                </a:solidFill>
                <a:latin typeface="Calibri"/>
              </a:rPr>
              <a:t>Logic, algorithm, local invariant</a:t>
            </a:r>
          </a:p>
        </p:txBody>
      </p:sp>
      <p:sp>
        <p:nvSpPr>
          <p:cNvPr id="30" name="Rectangle 29"/>
          <p:cNvSpPr/>
          <p:nvPr/>
        </p:nvSpPr>
        <p:spPr>
          <a:xfrm>
            <a:off x="5257800" y="2560320"/>
            <a:ext cx="3246120" cy="777240"/>
          </a:xfrm>
          <a:prstGeom prst="rect">
            <a:avLst/>
          </a:prstGeom>
          <a:solidFill>
            <a:srgbClr val="EE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330952" y="2670048"/>
            <a:ext cx="3136392" cy="594360"/>
          </a:xfrm>
          <a:prstGeom prst="rect">
            <a:avLst/>
          </a:prstGeom>
          <a:noFill/>
        </p:spPr>
        <p:txBody>
          <a:bodyPr wrap="square">
            <a:spAutoFit/>
          </a:bodyPr>
          <a:lstStyle/>
          <a:p>
            <a:pPr algn="l"/>
            <a:r>
              <a:rPr sz="1200" b="0">
                <a:solidFill>
                  <a:srgbClr val="1C2430"/>
                </a:solidFill>
                <a:latin typeface="Calibri"/>
              </a:rPr>
              <a:t>Contracts, data flow, miswired stages, config</a:t>
            </a:r>
          </a:p>
        </p:txBody>
      </p:sp>
      <p:sp>
        <p:nvSpPr>
          <p:cNvPr id="32" name="Rectangle 31"/>
          <p:cNvSpPr/>
          <p:nvPr/>
        </p:nvSpPr>
        <p:spPr>
          <a:xfrm>
            <a:off x="8503920" y="2560320"/>
            <a:ext cx="3246120" cy="777240"/>
          </a:xfrm>
          <a:prstGeom prst="rect">
            <a:avLst/>
          </a:prstGeom>
          <a:solidFill>
            <a:srgbClr val="EE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577072" y="2670048"/>
            <a:ext cx="3136392" cy="594360"/>
          </a:xfrm>
          <a:prstGeom prst="rect">
            <a:avLst/>
          </a:prstGeom>
          <a:noFill/>
        </p:spPr>
        <p:txBody>
          <a:bodyPr wrap="square">
            <a:spAutoFit/>
          </a:bodyPr>
          <a:lstStyle/>
          <a:p>
            <a:pPr algn="l"/>
            <a:r>
              <a:rPr sz="1200" b="0">
                <a:solidFill>
                  <a:srgbClr val="1C2430"/>
                </a:solidFill>
                <a:latin typeface="Calibri"/>
              </a:rPr>
              <a:t>Emergent behavior, environment, UX of the workflow</a:t>
            </a:r>
          </a:p>
        </p:txBody>
      </p:sp>
      <p:sp>
        <p:nvSpPr>
          <p:cNvPr id="34" name="Rectangle 33"/>
          <p:cNvSpPr/>
          <p:nvPr/>
        </p:nvSpPr>
        <p:spPr>
          <a:xfrm>
            <a:off x="365760" y="3337560"/>
            <a:ext cx="182880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8912" y="3447288"/>
            <a:ext cx="1719072" cy="594360"/>
          </a:xfrm>
          <a:prstGeom prst="rect">
            <a:avLst/>
          </a:prstGeom>
          <a:noFill/>
        </p:spPr>
        <p:txBody>
          <a:bodyPr wrap="square">
            <a:spAutoFit/>
          </a:bodyPr>
          <a:lstStyle/>
          <a:p>
            <a:pPr algn="l"/>
            <a:r>
              <a:rPr sz="1200" b="1">
                <a:solidFill>
                  <a:srgbClr val="0B2C4A"/>
                </a:solidFill>
                <a:latin typeface="Calibri"/>
              </a:rPr>
              <a:t>Typical time</a:t>
            </a:r>
          </a:p>
        </p:txBody>
      </p:sp>
      <p:sp>
        <p:nvSpPr>
          <p:cNvPr id="36" name="Rectangle 35"/>
          <p:cNvSpPr/>
          <p:nvPr/>
        </p:nvSpPr>
        <p:spPr>
          <a:xfrm>
            <a:off x="2194560" y="3337560"/>
            <a:ext cx="306324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267712" y="3447288"/>
            <a:ext cx="2953512" cy="594360"/>
          </a:xfrm>
          <a:prstGeom prst="rect">
            <a:avLst/>
          </a:prstGeom>
          <a:noFill/>
        </p:spPr>
        <p:txBody>
          <a:bodyPr wrap="square">
            <a:spAutoFit/>
          </a:bodyPr>
          <a:lstStyle/>
          <a:p>
            <a:pPr algn="l"/>
            <a:r>
              <a:rPr sz="1200" b="0">
                <a:solidFill>
                  <a:srgbClr val="1C2430"/>
                </a:solidFill>
                <a:latin typeface="Calibri"/>
              </a:rPr>
              <a:t>ms–seconds</a:t>
            </a:r>
          </a:p>
        </p:txBody>
      </p:sp>
      <p:sp>
        <p:nvSpPr>
          <p:cNvPr id="38" name="Rectangle 37"/>
          <p:cNvSpPr/>
          <p:nvPr/>
        </p:nvSpPr>
        <p:spPr>
          <a:xfrm>
            <a:off x="5257800" y="3337560"/>
            <a:ext cx="324612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330952" y="3447288"/>
            <a:ext cx="3136392" cy="594360"/>
          </a:xfrm>
          <a:prstGeom prst="rect">
            <a:avLst/>
          </a:prstGeom>
          <a:noFill/>
        </p:spPr>
        <p:txBody>
          <a:bodyPr wrap="square">
            <a:spAutoFit/>
          </a:bodyPr>
          <a:lstStyle/>
          <a:p>
            <a:pPr algn="l"/>
            <a:r>
              <a:rPr sz="1200" b="0">
                <a:solidFill>
                  <a:srgbClr val="1C2430"/>
                </a:solidFill>
                <a:latin typeface="Calibri"/>
              </a:rPr>
              <a:t>seconds–low minutes</a:t>
            </a:r>
          </a:p>
        </p:txBody>
      </p:sp>
      <p:sp>
        <p:nvSpPr>
          <p:cNvPr id="40" name="Rectangle 39"/>
          <p:cNvSpPr/>
          <p:nvPr/>
        </p:nvSpPr>
        <p:spPr>
          <a:xfrm>
            <a:off x="8503920" y="3337560"/>
            <a:ext cx="324612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577072" y="3447288"/>
            <a:ext cx="3136392" cy="594360"/>
          </a:xfrm>
          <a:prstGeom prst="rect">
            <a:avLst/>
          </a:prstGeom>
          <a:noFill/>
        </p:spPr>
        <p:txBody>
          <a:bodyPr wrap="square">
            <a:spAutoFit/>
          </a:bodyPr>
          <a:lstStyle/>
          <a:p>
            <a:pPr algn="l"/>
            <a:r>
              <a:rPr sz="1200" b="0">
                <a:solidFill>
                  <a:srgbClr val="1C2430"/>
                </a:solidFill>
                <a:latin typeface="Calibri"/>
              </a:rPr>
              <a:t>minutes–hours</a:t>
            </a:r>
          </a:p>
        </p:txBody>
      </p:sp>
      <p:sp>
        <p:nvSpPr>
          <p:cNvPr id="42" name="Rectangle 41"/>
          <p:cNvSpPr/>
          <p:nvPr/>
        </p:nvSpPr>
        <p:spPr>
          <a:xfrm>
            <a:off x="365760" y="4114800"/>
            <a:ext cx="1828800" cy="777240"/>
          </a:xfrm>
          <a:prstGeom prst="rect">
            <a:avLst/>
          </a:prstGeom>
          <a:solidFill>
            <a:srgbClr val="EE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38912" y="4224528"/>
            <a:ext cx="1719072" cy="594360"/>
          </a:xfrm>
          <a:prstGeom prst="rect">
            <a:avLst/>
          </a:prstGeom>
          <a:noFill/>
        </p:spPr>
        <p:txBody>
          <a:bodyPr wrap="square">
            <a:spAutoFit/>
          </a:bodyPr>
          <a:lstStyle/>
          <a:p>
            <a:pPr algn="l"/>
            <a:r>
              <a:rPr sz="1200" b="1">
                <a:solidFill>
                  <a:srgbClr val="0B2C4A"/>
                </a:solidFill>
                <a:latin typeface="Calibri"/>
              </a:rPr>
              <a:t>Owner mix</a:t>
            </a:r>
          </a:p>
        </p:txBody>
      </p:sp>
      <p:sp>
        <p:nvSpPr>
          <p:cNvPr id="44" name="Rectangle 43"/>
          <p:cNvSpPr/>
          <p:nvPr/>
        </p:nvSpPr>
        <p:spPr>
          <a:xfrm>
            <a:off x="2194560" y="4114800"/>
            <a:ext cx="3063240" cy="777240"/>
          </a:xfrm>
          <a:prstGeom prst="rect">
            <a:avLst/>
          </a:prstGeom>
          <a:solidFill>
            <a:srgbClr val="EE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267712" y="4224528"/>
            <a:ext cx="2953512" cy="594360"/>
          </a:xfrm>
          <a:prstGeom prst="rect">
            <a:avLst/>
          </a:prstGeom>
          <a:noFill/>
        </p:spPr>
        <p:txBody>
          <a:bodyPr wrap="square">
            <a:spAutoFit/>
          </a:bodyPr>
          <a:lstStyle/>
          <a:p>
            <a:pPr algn="l"/>
            <a:r>
              <a:rPr sz="1200" b="0">
                <a:solidFill>
                  <a:srgbClr val="1C2430"/>
                </a:solidFill>
                <a:latin typeface="Calibri"/>
              </a:rPr>
              <a:t>Dev-primary</a:t>
            </a:r>
          </a:p>
        </p:txBody>
      </p:sp>
      <p:sp>
        <p:nvSpPr>
          <p:cNvPr id="46" name="Rectangle 45"/>
          <p:cNvSpPr/>
          <p:nvPr/>
        </p:nvSpPr>
        <p:spPr>
          <a:xfrm>
            <a:off x="5257800" y="4114800"/>
            <a:ext cx="3246120" cy="777240"/>
          </a:xfrm>
          <a:prstGeom prst="rect">
            <a:avLst/>
          </a:prstGeom>
          <a:solidFill>
            <a:srgbClr val="EE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330952" y="4224528"/>
            <a:ext cx="3136392" cy="594360"/>
          </a:xfrm>
          <a:prstGeom prst="rect">
            <a:avLst/>
          </a:prstGeom>
          <a:noFill/>
        </p:spPr>
        <p:txBody>
          <a:bodyPr wrap="square">
            <a:spAutoFit/>
          </a:bodyPr>
          <a:lstStyle/>
          <a:p>
            <a:pPr algn="l"/>
            <a:r>
              <a:rPr sz="1200" b="0">
                <a:solidFill>
                  <a:srgbClr val="1C2430"/>
                </a:solidFill>
                <a:latin typeface="Calibri"/>
              </a:rPr>
              <a:t>Dev + QE together</a:t>
            </a:r>
          </a:p>
        </p:txBody>
      </p:sp>
      <p:sp>
        <p:nvSpPr>
          <p:cNvPr id="48" name="Rectangle 47"/>
          <p:cNvSpPr/>
          <p:nvPr/>
        </p:nvSpPr>
        <p:spPr>
          <a:xfrm>
            <a:off x="8503920" y="4114800"/>
            <a:ext cx="3246120" cy="777240"/>
          </a:xfrm>
          <a:prstGeom prst="rect">
            <a:avLst/>
          </a:prstGeom>
          <a:solidFill>
            <a:srgbClr val="EE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577072" y="4224528"/>
            <a:ext cx="3136392" cy="594360"/>
          </a:xfrm>
          <a:prstGeom prst="rect">
            <a:avLst/>
          </a:prstGeom>
          <a:noFill/>
        </p:spPr>
        <p:txBody>
          <a:bodyPr wrap="square">
            <a:spAutoFit/>
          </a:bodyPr>
          <a:lstStyle/>
          <a:p>
            <a:pPr algn="l"/>
            <a:r>
              <a:rPr sz="1200" b="0">
                <a:solidFill>
                  <a:srgbClr val="1C2430"/>
                </a:solidFill>
                <a:latin typeface="Calibri"/>
              </a:rPr>
              <a:t>QE-primary, sparse</a:t>
            </a:r>
          </a:p>
        </p:txBody>
      </p:sp>
      <p:sp>
        <p:nvSpPr>
          <p:cNvPr id="50" name="Rectangle 49"/>
          <p:cNvSpPr/>
          <p:nvPr/>
        </p:nvSpPr>
        <p:spPr>
          <a:xfrm>
            <a:off x="365760" y="4892040"/>
            <a:ext cx="182880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38912" y="5001768"/>
            <a:ext cx="1719072" cy="594360"/>
          </a:xfrm>
          <a:prstGeom prst="rect">
            <a:avLst/>
          </a:prstGeom>
          <a:noFill/>
        </p:spPr>
        <p:txBody>
          <a:bodyPr wrap="square">
            <a:spAutoFit/>
          </a:bodyPr>
          <a:lstStyle/>
          <a:p>
            <a:pPr algn="l"/>
            <a:r>
              <a:rPr sz="1200" b="1">
                <a:solidFill>
                  <a:srgbClr val="0B2C4A"/>
                </a:solidFill>
                <a:latin typeface="Calibri"/>
              </a:rPr>
              <a:t>Oracle</a:t>
            </a:r>
          </a:p>
        </p:txBody>
      </p:sp>
      <p:sp>
        <p:nvSpPr>
          <p:cNvPr id="52" name="Rectangle 51"/>
          <p:cNvSpPr/>
          <p:nvPr/>
        </p:nvSpPr>
        <p:spPr>
          <a:xfrm>
            <a:off x="2194560" y="4892040"/>
            <a:ext cx="306324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267712" y="5001768"/>
            <a:ext cx="2953512" cy="594360"/>
          </a:xfrm>
          <a:prstGeom prst="rect">
            <a:avLst/>
          </a:prstGeom>
          <a:noFill/>
        </p:spPr>
        <p:txBody>
          <a:bodyPr wrap="square">
            <a:spAutoFit/>
          </a:bodyPr>
          <a:lstStyle/>
          <a:p>
            <a:pPr algn="l"/>
            <a:r>
              <a:rPr sz="1200" b="0">
                <a:solidFill>
                  <a:srgbClr val="1C2430"/>
                </a:solidFill>
                <a:latin typeface="Calibri"/>
              </a:rPr>
              <a:t>Assert on values / mocks</a:t>
            </a:r>
          </a:p>
        </p:txBody>
      </p:sp>
      <p:sp>
        <p:nvSpPr>
          <p:cNvPr id="54" name="Rectangle 53"/>
          <p:cNvSpPr/>
          <p:nvPr/>
        </p:nvSpPr>
        <p:spPr>
          <a:xfrm>
            <a:off x="5257800" y="4892040"/>
            <a:ext cx="324612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330952" y="5001768"/>
            <a:ext cx="3136392" cy="594360"/>
          </a:xfrm>
          <a:prstGeom prst="rect">
            <a:avLst/>
          </a:prstGeom>
          <a:noFill/>
        </p:spPr>
        <p:txBody>
          <a:bodyPr wrap="square">
            <a:spAutoFit/>
          </a:bodyPr>
          <a:lstStyle/>
          <a:p>
            <a:pPr algn="l"/>
            <a:r>
              <a:rPr sz="1200" b="0">
                <a:solidFill>
                  <a:srgbClr val="1C2430"/>
                </a:solidFill>
                <a:latin typeface="Calibri"/>
              </a:rPr>
              <a:t>Assert on boundary artifacts</a:t>
            </a:r>
          </a:p>
        </p:txBody>
      </p:sp>
      <p:sp>
        <p:nvSpPr>
          <p:cNvPr id="56" name="Rectangle 55"/>
          <p:cNvSpPr/>
          <p:nvPr/>
        </p:nvSpPr>
        <p:spPr>
          <a:xfrm>
            <a:off x="8503920" y="4892040"/>
            <a:ext cx="324612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577072" y="5001768"/>
            <a:ext cx="3136392" cy="594360"/>
          </a:xfrm>
          <a:prstGeom prst="rect">
            <a:avLst/>
          </a:prstGeom>
          <a:noFill/>
        </p:spPr>
        <p:txBody>
          <a:bodyPr wrap="square">
            <a:spAutoFit/>
          </a:bodyPr>
          <a:lstStyle/>
          <a:p>
            <a:pPr algn="l"/>
            <a:r>
              <a:rPr sz="1200" b="0">
                <a:solidFill>
                  <a:srgbClr val="1C2430"/>
                </a:solidFill>
                <a:latin typeface="Calibri"/>
              </a:rPr>
              <a:t>Assert on customer-visible outcome</a:t>
            </a:r>
          </a:p>
        </p:txBody>
      </p:sp>
      <p:sp>
        <p:nvSpPr>
          <p:cNvPr id="58" name="TextBox 57"/>
          <p:cNvSpPr txBox="1"/>
          <p:nvPr/>
        </p:nvSpPr>
        <p:spPr>
          <a:xfrm>
            <a:off x="411480" y="6080760"/>
            <a:ext cx="11338560" cy="365760"/>
          </a:xfrm>
          <a:prstGeom prst="rect">
            <a:avLst/>
          </a:prstGeom>
          <a:noFill/>
        </p:spPr>
        <p:txBody>
          <a:bodyPr wrap="square">
            <a:spAutoFit/>
          </a:bodyPr>
          <a:lstStyle/>
          <a:p>
            <a:pPr algn="l"/>
            <a:r>
              <a:rPr sz="1300" b="0">
                <a:solidFill>
                  <a:srgbClr val="5B6775"/>
                </a:solidFill>
                <a:latin typeface="Calibri"/>
              </a:rPr>
              <a:t>Fowler / Microsoft: keep integration tests narrow. If a test needs the whole stack, it is a system test wearing an integration-test name.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73152"/>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10972800" cy="457200"/>
          </a:xfrm>
          <a:prstGeom prst="rect">
            <a:avLst/>
          </a:prstGeom>
          <a:noFill/>
        </p:spPr>
        <p:txBody>
          <a:bodyPr wrap="square">
            <a:spAutoFit/>
          </a:bodyPr>
          <a:lstStyle/>
          <a:p>
            <a:pPr algn="l"/>
            <a:r>
              <a:rPr sz="2800" b="1">
                <a:solidFill>
                  <a:srgbClr val="FFFFFF"/>
                </a:solidFill>
                <a:latin typeface="Calibri"/>
              </a:rPr>
              <a:t>Industry consensus (2024–2026)</a:t>
            </a:r>
          </a:p>
        </p:txBody>
      </p:sp>
      <p:sp>
        <p:nvSpPr>
          <p:cNvPr id="5" name="TextBox 4"/>
          <p:cNvSpPr txBox="1"/>
          <p:nvPr/>
        </p:nvSpPr>
        <p:spPr>
          <a:xfrm>
            <a:off x="457200" y="621792"/>
            <a:ext cx="10972800" cy="320040"/>
          </a:xfrm>
          <a:prstGeom prst="rect">
            <a:avLst/>
          </a:prstGeom>
          <a:noFill/>
        </p:spPr>
        <p:txBody>
          <a:bodyPr wrap="square">
            <a:spAutoFit/>
          </a:bodyPr>
          <a:lstStyle/>
          <a:p>
            <a:pPr algn="l"/>
            <a:r>
              <a:rPr sz="1400" b="0">
                <a:solidFill>
                  <a:srgbClr val="C9D7E5"/>
                </a:solidFill>
                <a:latin typeface="Calibri"/>
              </a:rPr>
              <a:t>Same advice, different companies</a:t>
            </a:r>
          </a:p>
        </p:txBody>
      </p:sp>
      <p:sp>
        <p:nvSpPr>
          <p:cNvPr id="6" name="Rectangle 5"/>
          <p:cNvSpPr/>
          <p:nvPr/>
        </p:nvSpPr>
        <p:spPr>
          <a:xfrm>
            <a:off x="0" y="6656832"/>
            <a:ext cx="12191695" cy="20116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647688"/>
            <a:ext cx="9144000" cy="201168"/>
          </a:xfrm>
          <a:prstGeom prst="rect">
            <a:avLst/>
          </a:prstGeom>
          <a:noFill/>
        </p:spPr>
        <p:txBody>
          <a:bodyPr wrap="square">
            <a:spAutoFit/>
          </a:bodyPr>
          <a:lstStyle/>
          <a:p>
            <a:pPr algn="l"/>
            <a:r>
              <a:rPr sz="1000" b="0">
                <a:solidFill>
                  <a:srgbClr val="FFFFFF"/>
                </a:solidFill>
                <a:latin typeface="Calibri"/>
              </a:rPr>
              <a:t>Embedded Coder  ·  Code Efficiency  ·  Integration Testing Proposal  ·  Internal</a:t>
            </a:r>
          </a:p>
        </p:txBody>
      </p:sp>
      <p:sp>
        <p:nvSpPr>
          <p:cNvPr id="8" name="TextBox 7"/>
          <p:cNvSpPr txBox="1"/>
          <p:nvPr/>
        </p:nvSpPr>
        <p:spPr>
          <a:xfrm>
            <a:off x="10607040" y="6647688"/>
            <a:ext cx="1280160" cy="201168"/>
          </a:xfrm>
          <a:prstGeom prst="rect">
            <a:avLst/>
          </a:prstGeom>
          <a:noFill/>
        </p:spPr>
        <p:txBody>
          <a:bodyPr wrap="square">
            <a:spAutoFit/>
          </a:bodyPr>
          <a:lstStyle/>
          <a:p>
            <a:pPr algn="r"/>
            <a:r>
              <a:rPr sz="1000" b="0">
                <a:solidFill>
                  <a:srgbClr val="FFFFFF"/>
                </a:solidFill>
                <a:latin typeface="Calibri"/>
              </a:rPr>
              <a:t>7  /  20</a:t>
            </a:r>
          </a:p>
        </p:txBody>
      </p:sp>
      <p:sp>
        <p:nvSpPr>
          <p:cNvPr id="9" name="Rectangle 8"/>
          <p:cNvSpPr/>
          <p:nvPr/>
        </p:nvSpPr>
        <p:spPr>
          <a:xfrm>
            <a:off x="0" y="1124712"/>
            <a:ext cx="12191695" cy="553212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11480" y="1371600"/>
            <a:ext cx="11338560" cy="1078992"/>
          </a:xfrm>
          <a:prstGeom prst="roundRect">
            <a:avLst/>
          </a:prstGeom>
          <a:solidFill>
            <a:srgbClr val="FFFFFF"/>
          </a:solidFill>
          <a:ln w="12700">
            <a:solidFill>
              <a:srgbClr val="D5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481328"/>
            <a:ext cx="10972800" cy="274320"/>
          </a:xfrm>
          <a:prstGeom prst="rect">
            <a:avLst/>
          </a:prstGeom>
          <a:noFill/>
        </p:spPr>
        <p:txBody>
          <a:bodyPr wrap="square">
            <a:spAutoFit/>
          </a:bodyPr>
          <a:lstStyle/>
          <a:p>
            <a:pPr algn="l"/>
            <a:r>
              <a:rPr sz="1400" b="1">
                <a:solidFill>
                  <a:srgbClr val="E87722"/>
                </a:solidFill>
                <a:latin typeface="Calibri"/>
              </a:rPr>
              <a:t>Google (SWE book)</a:t>
            </a:r>
          </a:p>
        </p:txBody>
      </p:sp>
      <p:sp>
        <p:nvSpPr>
          <p:cNvPr id="12" name="TextBox 11"/>
          <p:cNvSpPr txBox="1"/>
          <p:nvPr/>
        </p:nvSpPr>
        <p:spPr>
          <a:xfrm>
            <a:off x="640080" y="1783080"/>
            <a:ext cx="10972800" cy="594360"/>
          </a:xfrm>
          <a:prstGeom prst="rect">
            <a:avLst/>
          </a:prstGeom>
          <a:noFill/>
        </p:spPr>
        <p:txBody>
          <a:bodyPr wrap="square">
            <a:spAutoFit/>
          </a:bodyPr>
          <a:lstStyle/>
          <a:p>
            <a:pPr algn="l"/>
            <a:r>
              <a:rPr sz="1400" b="0">
                <a:solidFill>
                  <a:srgbClr val="1C2430"/>
                </a:solidFill>
                <a:latin typeface="Calibri"/>
              </a:rPr>
              <a:t>Classify tests by size (small / medium / large) and by scope. Aim ~80 / 15 / 5. Write the smallest test that can fail for that behavior. Small = one process; medium = one machine; large = anywhere.</a:t>
            </a:r>
          </a:p>
        </p:txBody>
      </p:sp>
      <p:sp>
        <p:nvSpPr>
          <p:cNvPr id="13" name="Rounded Rectangle 12"/>
          <p:cNvSpPr/>
          <p:nvPr/>
        </p:nvSpPr>
        <p:spPr>
          <a:xfrm>
            <a:off x="411480" y="2560320"/>
            <a:ext cx="11338560" cy="1078992"/>
          </a:xfrm>
          <a:prstGeom prst="roundRect">
            <a:avLst/>
          </a:prstGeom>
          <a:solidFill>
            <a:srgbClr val="FFFFFF"/>
          </a:solidFill>
          <a:ln w="12700">
            <a:solidFill>
              <a:srgbClr val="D5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670048"/>
            <a:ext cx="10972800" cy="274320"/>
          </a:xfrm>
          <a:prstGeom prst="rect">
            <a:avLst/>
          </a:prstGeom>
          <a:noFill/>
        </p:spPr>
        <p:txBody>
          <a:bodyPr wrap="square">
            <a:spAutoFit/>
          </a:bodyPr>
          <a:lstStyle/>
          <a:p>
            <a:pPr algn="l"/>
            <a:r>
              <a:rPr sz="1400" b="1">
                <a:solidFill>
                  <a:srgbClr val="E87722"/>
                </a:solidFill>
                <a:latin typeface="Calibri"/>
              </a:rPr>
              <a:t>Microsoft (Well-Architected)</a:t>
            </a:r>
          </a:p>
        </p:txBody>
      </p:sp>
      <p:sp>
        <p:nvSpPr>
          <p:cNvPr id="15" name="TextBox 14"/>
          <p:cNvSpPr txBox="1"/>
          <p:nvPr/>
        </p:nvSpPr>
        <p:spPr>
          <a:xfrm>
            <a:off x="640080" y="2971800"/>
            <a:ext cx="10972800" cy="594360"/>
          </a:xfrm>
          <a:prstGeom prst="rect">
            <a:avLst/>
          </a:prstGeom>
          <a:noFill/>
        </p:spPr>
        <p:txBody>
          <a:bodyPr wrap="square">
            <a:spAutoFit/>
          </a:bodyPr>
          <a:lstStyle/>
          <a:p>
            <a:pPr algn="l"/>
            <a:r>
              <a:rPr sz="1400" b="0">
                <a:solidFill>
                  <a:srgbClr val="1C2430"/>
                </a:solidFill>
                <a:latin typeface="Calibri"/>
              </a:rPr>
              <a:t>Unit on every commit. Integration when components interact. E2E only for the few critical journeys. Gate pipelines so a change cannot proceed until the cheaper layer is green.</a:t>
            </a:r>
          </a:p>
        </p:txBody>
      </p:sp>
      <p:sp>
        <p:nvSpPr>
          <p:cNvPr id="16" name="Rounded Rectangle 15"/>
          <p:cNvSpPr/>
          <p:nvPr/>
        </p:nvSpPr>
        <p:spPr>
          <a:xfrm>
            <a:off x="411480" y="3749040"/>
            <a:ext cx="11338560" cy="1078992"/>
          </a:xfrm>
          <a:prstGeom prst="roundRect">
            <a:avLst/>
          </a:prstGeom>
          <a:solidFill>
            <a:srgbClr val="FFFFFF"/>
          </a:solidFill>
          <a:ln w="12700">
            <a:solidFill>
              <a:srgbClr val="D5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858768"/>
            <a:ext cx="10972800" cy="274320"/>
          </a:xfrm>
          <a:prstGeom prst="rect">
            <a:avLst/>
          </a:prstGeom>
          <a:noFill/>
        </p:spPr>
        <p:txBody>
          <a:bodyPr wrap="square">
            <a:spAutoFit/>
          </a:bodyPr>
          <a:lstStyle/>
          <a:p>
            <a:pPr algn="l"/>
            <a:r>
              <a:rPr sz="1400" b="1">
                <a:solidFill>
                  <a:srgbClr val="E87722"/>
                </a:solidFill>
                <a:latin typeface="Calibri"/>
              </a:rPr>
              <a:t>ISTQB / test-level guides</a:t>
            </a:r>
          </a:p>
        </p:txBody>
      </p:sp>
      <p:sp>
        <p:nvSpPr>
          <p:cNvPr id="18" name="TextBox 17"/>
          <p:cNvSpPr txBox="1"/>
          <p:nvPr/>
        </p:nvSpPr>
        <p:spPr>
          <a:xfrm>
            <a:off x="640080" y="4160520"/>
            <a:ext cx="10972800" cy="594360"/>
          </a:xfrm>
          <a:prstGeom prst="rect">
            <a:avLst/>
          </a:prstGeom>
          <a:noFill/>
        </p:spPr>
        <p:txBody>
          <a:bodyPr wrap="square">
            <a:spAutoFit/>
          </a:bodyPr>
          <a:lstStyle/>
          <a:p>
            <a:pPr algn="l"/>
            <a:r>
              <a:rPr sz="1400" b="0">
                <a:solidFill>
                  <a:srgbClr val="1C2430"/>
                </a:solidFill>
                <a:latin typeface="Calibri"/>
              </a:rPr>
              <a:t>Integration owns interfaces. System owns the fully integrated product against requirements. Different owners, different environments, different oracles.</a:t>
            </a:r>
          </a:p>
        </p:txBody>
      </p:sp>
      <p:sp>
        <p:nvSpPr>
          <p:cNvPr id="19" name="Rounded Rectangle 18"/>
          <p:cNvSpPr/>
          <p:nvPr/>
        </p:nvSpPr>
        <p:spPr>
          <a:xfrm>
            <a:off x="411480" y="4937760"/>
            <a:ext cx="11338560" cy="1078992"/>
          </a:xfrm>
          <a:prstGeom prst="roundRect">
            <a:avLst/>
          </a:prstGeom>
          <a:solidFill>
            <a:srgbClr val="FFFFFF"/>
          </a:solidFill>
          <a:ln w="12700">
            <a:solidFill>
              <a:srgbClr val="D5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047488"/>
            <a:ext cx="10972800" cy="274320"/>
          </a:xfrm>
          <a:prstGeom prst="rect">
            <a:avLst/>
          </a:prstGeom>
          <a:noFill/>
        </p:spPr>
        <p:txBody>
          <a:bodyPr wrap="square">
            <a:spAutoFit/>
          </a:bodyPr>
          <a:lstStyle/>
          <a:p>
            <a:pPr algn="l"/>
            <a:r>
              <a:rPr sz="1400" b="1">
                <a:solidFill>
                  <a:srgbClr val="E87722"/>
                </a:solidFill>
                <a:latin typeface="Calibri"/>
              </a:rPr>
              <a:t>Compiler industry</a:t>
            </a:r>
          </a:p>
        </p:txBody>
      </p:sp>
      <p:sp>
        <p:nvSpPr>
          <p:cNvPr id="21" name="TextBox 20"/>
          <p:cNvSpPr txBox="1"/>
          <p:nvPr/>
        </p:nvSpPr>
        <p:spPr>
          <a:xfrm>
            <a:off x="640080" y="5349240"/>
            <a:ext cx="10972800" cy="594360"/>
          </a:xfrm>
          <a:prstGeom prst="rect">
            <a:avLst/>
          </a:prstGeom>
          <a:noFill/>
        </p:spPr>
        <p:txBody>
          <a:bodyPr wrap="square">
            <a:spAutoFit/>
          </a:bodyPr>
          <a:lstStyle/>
          <a:p>
            <a:pPr algn="l"/>
            <a:r>
              <a:rPr sz="1400" b="0">
                <a:solidFill>
                  <a:srgbClr val="1C2430"/>
                </a:solidFill>
                <a:latin typeface="Calibri"/>
              </a:rPr>
              <a:t>Do not wait for whole-program execution to find a bad transform. Lit/FileCheck-style tests prove a stage produced the expected IR/code. Whole programs are a second, slower net.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73152"/>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10972800" cy="457200"/>
          </a:xfrm>
          <a:prstGeom prst="rect">
            <a:avLst/>
          </a:prstGeom>
          <a:noFill/>
        </p:spPr>
        <p:txBody>
          <a:bodyPr wrap="square">
            <a:spAutoFit/>
          </a:bodyPr>
          <a:lstStyle/>
          <a:p>
            <a:pPr algn="l"/>
            <a:r>
              <a:rPr sz="2800" b="1">
                <a:solidFill>
                  <a:srgbClr val="FFFFFF"/>
                </a:solidFill>
                <a:latin typeface="Calibri"/>
              </a:rPr>
              <a:t>Analogue 1: how compiler vendors test</a:t>
            </a:r>
          </a:p>
        </p:txBody>
      </p:sp>
      <p:sp>
        <p:nvSpPr>
          <p:cNvPr id="5" name="TextBox 4"/>
          <p:cNvSpPr txBox="1"/>
          <p:nvPr/>
        </p:nvSpPr>
        <p:spPr>
          <a:xfrm>
            <a:off x="457200" y="621792"/>
            <a:ext cx="10972800" cy="320040"/>
          </a:xfrm>
          <a:prstGeom prst="rect">
            <a:avLst/>
          </a:prstGeom>
          <a:noFill/>
        </p:spPr>
        <p:txBody>
          <a:bodyPr wrap="square">
            <a:spAutoFit/>
          </a:bodyPr>
          <a:lstStyle/>
          <a:p>
            <a:pPr algn="l"/>
            <a:r>
              <a:rPr sz="1400" b="0">
                <a:solidFill>
                  <a:srgbClr val="C9D7E5"/>
                </a:solidFill>
                <a:latin typeface="Calibri"/>
              </a:rPr>
              <a:t>LLVM, GCC, TI — the closest technical cousins</a:t>
            </a:r>
          </a:p>
        </p:txBody>
      </p:sp>
      <p:sp>
        <p:nvSpPr>
          <p:cNvPr id="6" name="Rectangle 5"/>
          <p:cNvSpPr/>
          <p:nvPr/>
        </p:nvSpPr>
        <p:spPr>
          <a:xfrm>
            <a:off x="0" y="6656832"/>
            <a:ext cx="12191695" cy="20116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647688"/>
            <a:ext cx="9144000" cy="201168"/>
          </a:xfrm>
          <a:prstGeom prst="rect">
            <a:avLst/>
          </a:prstGeom>
          <a:noFill/>
        </p:spPr>
        <p:txBody>
          <a:bodyPr wrap="square">
            <a:spAutoFit/>
          </a:bodyPr>
          <a:lstStyle/>
          <a:p>
            <a:pPr algn="l"/>
            <a:r>
              <a:rPr sz="1000" b="0">
                <a:solidFill>
                  <a:srgbClr val="FFFFFF"/>
                </a:solidFill>
                <a:latin typeface="Calibri"/>
              </a:rPr>
              <a:t>Embedded Coder  ·  Code Efficiency  ·  Integration Testing Proposal  ·  Internal</a:t>
            </a:r>
          </a:p>
        </p:txBody>
      </p:sp>
      <p:sp>
        <p:nvSpPr>
          <p:cNvPr id="8" name="TextBox 7"/>
          <p:cNvSpPr txBox="1"/>
          <p:nvPr/>
        </p:nvSpPr>
        <p:spPr>
          <a:xfrm>
            <a:off x="10607040" y="6647688"/>
            <a:ext cx="1280160" cy="201168"/>
          </a:xfrm>
          <a:prstGeom prst="rect">
            <a:avLst/>
          </a:prstGeom>
          <a:noFill/>
        </p:spPr>
        <p:txBody>
          <a:bodyPr wrap="square">
            <a:spAutoFit/>
          </a:bodyPr>
          <a:lstStyle/>
          <a:p>
            <a:pPr algn="r"/>
            <a:r>
              <a:rPr sz="1000" b="0">
                <a:solidFill>
                  <a:srgbClr val="FFFFFF"/>
                </a:solidFill>
                <a:latin typeface="Calibri"/>
              </a:rPr>
              <a:t>8  /  20</a:t>
            </a:r>
          </a:p>
        </p:txBody>
      </p:sp>
      <p:sp>
        <p:nvSpPr>
          <p:cNvPr id="9" name="Rectangle 8"/>
          <p:cNvSpPr/>
          <p:nvPr/>
        </p:nvSpPr>
        <p:spPr>
          <a:xfrm>
            <a:off x="0" y="1124712"/>
            <a:ext cx="12191695" cy="553212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11480" y="1298448"/>
            <a:ext cx="502920" cy="777240"/>
          </a:xfrm>
          <a:prstGeom prst="roundRect">
            <a:avLst/>
          </a:prstGeom>
          <a:solidFill>
            <a:srgbClr val="0D7A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1527048"/>
            <a:ext cx="502920" cy="365760"/>
          </a:xfrm>
          <a:prstGeom prst="rect">
            <a:avLst/>
          </a:prstGeom>
          <a:noFill/>
        </p:spPr>
        <p:txBody>
          <a:bodyPr wrap="square">
            <a:spAutoFit/>
          </a:bodyPr>
          <a:lstStyle/>
          <a:p>
            <a:pPr algn="ctr"/>
            <a:r>
              <a:rPr sz="1800" b="1">
                <a:solidFill>
                  <a:srgbClr val="FFFFFF"/>
                </a:solidFill>
                <a:latin typeface="Calibri"/>
              </a:rPr>
              <a:t>1</a:t>
            </a:r>
          </a:p>
        </p:txBody>
      </p:sp>
      <p:sp>
        <p:nvSpPr>
          <p:cNvPr id="12" name="Rounded Rectangle 11"/>
          <p:cNvSpPr/>
          <p:nvPr/>
        </p:nvSpPr>
        <p:spPr>
          <a:xfrm>
            <a:off x="1051560" y="1298448"/>
            <a:ext cx="10698480" cy="868680"/>
          </a:xfrm>
          <a:prstGeom prst="roundRect">
            <a:avLst/>
          </a:prstGeom>
          <a:solidFill>
            <a:srgbClr val="FFFFFF"/>
          </a:solidFill>
          <a:ln w="12700">
            <a:solidFill>
              <a:srgbClr val="D5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34440" y="1371600"/>
            <a:ext cx="10332720" cy="274320"/>
          </a:xfrm>
          <a:prstGeom prst="rect">
            <a:avLst/>
          </a:prstGeom>
          <a:noFill/>
        </p:spPr>
        <p:txBody>
          <a:bodyPr wrap="square">
            <a:spAutoFit/>
          </a:bodyPr>
          <a:lstStyle/>
          <a:p>
            <a:pPr algn="l"/>
            <a:r>
              <a:rPr sz="1500" b="1">
                <a:solidFill>
                  <a:srgbClr val="0B2C4A"/>
                </a:solidFill>
                <a:latin typeface="Calibri"/>
              </a:rPr>
              <a:t>LLVM unit tests</a:t>
            </a:r>
          </a:p>
        </p:txBody>
      </p:sp>
      <p:sp>
        <p:nvSpPr>
          <p:cNvPr id="14" name="TextBox 13"/>
          <p:cNvSpPr txBox="1"/>
          <p:nvPr/>
        </p:nvSpPr>
        <p:spPr>
          <a:xfrm>
            <a:off x="1234440" y="1664208"/>
            <a:ext cx="10332720" cy="457200"/>
          </a:xfrm>
          <a:prstGeom prst="rect">
            <a:avLst/>
          </a:prstGeom>
          <a:noFill/>
        </p:spPr>
        <p:txBody>
          <a:bodyPr wrap="square">
            <a:spAutoFit/>
          </a:bodyPr>
          <a:lstStyle/>
          <a:p>
            <a:pPr algn="l"/>
            <a:r>
              <a:rPr sz="1300" b="0">
                <a:solidFill>
                  <a:srgbClr val="5B6775"/>
                </a:solidFill>
                <a:latin typeface="Calibri"/>
              </a:rPr>
              <a:t>C++ unit tests in llvm/unittests. Must pass before commit. Fast, hermetic, algorithm-level.</a:t>
            </a:r>
          </a:p>
        </p:txBody>
      </p:sp>
      <p:sp>
        <p:nvSpPr>
          <p:cNvPr id="15" name="Rounded Rectangle 14"/>
          <p:cNvSpPr/>
          <p:nvPr/>
        </p:nvSpPr>
        <p:spPr>
          <a:xfrm>
            <a:off x="411480" y="2258568"/>
            <a:ext cx="502920" cy="777240"/>
          </a:xfrm>
          <a:prstGeom prst="roundRect">
            <a:avLst/>
          </a:prstGeom>
          <a:solidFill>
            <a:srgbClr val="0D7A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1480" y="2487168"/>
            <a:ext cx="502920" cy="365760"/>
          </a:xfrm>
          <a:prstGeom prst="rect">
            <a:avLst/>
          </a:prstGeom>
          <a:noFill/>
        </p:spPr>
        <p:txBody>
          <a:bodyPr wrap="square">
            <a:spAutoFit/>
          </a:bodyPr>
          <a:lstStyle/>
          <a:p>
            <a:pPr algn="ctr"/>
            <a:r>
              <a:rPr sz="1800" b="1">
                <a:solidFill>
                  <a:srgbClr val="FFFFFF"/>
                </a:solidFill>
                <a:latin typeface="Calibri"/>
              </a:rPr>
              <a:t>2</a:t>
            </a:r>
          </a:p>
        </p:txBody>
      </p:sp>
      <p:sp>
        <p:nvSpPr>
          <p:cNvPr id="17" name="Rounded Rectangle 16"/>
          <p:cNvSpPr/>
          <p:nvPr/>
        </p:nvSpPr>
        <p:spPr>
          <a:xfrm>
            <a:off x="1051560" y="2258568"/>
            <a:ext cx="10698480" cy="868680"/>
          </a:xfrm>
          <a:prstGeom prst="roundRect">
            <a:avLst/>
          </a:prstGeom>
          <a:solidFill>
            <a:srgbClr val="FFFFFF"/>
          </a:solidFill>
          <a:ln w="12700">
            <a:solidFill>
              <a:srgbClr val="D5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34440" y="2331720"/>
            <a:ext cx="10332720" cy="274320"/>
          </a:xfrm>
          <a:prstGeom prst="rect">
            <a:avLst/>
          </a:prstGeom>
          <a:noFill/>
        </p:spPr>
        <p:txBody>
          <a:bodyPr wrap="square">
            <a:spAutoFit/>
          </a:bodyPr>
          <a:lstStyle/>
          <a:p>
            <a:pPr algn="l"/>
            <a:r>
              <a:rPr sz="1500" b="1">
                <a:solidFill>
                  <a:srgbClr val="0B2C4A"/>
                </a:solidFill>
                <a:latin typeface="Calibri"/>
              </a:rPr>
              <a:t>LLVM regression / lit + FileCheck</a:t>
            </a:r>
          </a:p>
        </p:txBody>
      </p:sp>
      <p:sp>
        <p:nvSpPr>
          <p:cNvPr id="19" name="TextBox 18"/>
          <p:cNvSpPr txBox="1"/>
          <p:nvPr/>
        </p:nvSpPr>
        <p:spPr>
          <a:xfrm>
            <a:off x="1234440" y="2624328"/>
            <a:ext cx="10332720" cy="457200"/>
          </a:xfrm>
          <a:prstGeom prst="rect">
            <a:avLst/>
          </a:prstGeom>
          <a:noFill/>
        </p:spPr>
        <p:txBody>
          <a:bodyPr wrap="square">
            <a:spAutoFit/>
          </a:bodyPr>
          <a:lstStyle/>
          <a:p>
            <a:pPr algn="l"/>
            <a:r>
              <a:rPr sz="1300" b="0">
                <a:solidFill>
                  <a:srgbClr val="5B6775"/>
                </a:solidFill>
                <a:latin typeface="Calibri"/>
              </a:rPr>
              <a:t>Tiny IR or source snippets. RUN the relevant tool (opt, llc, clang). CHECK that generated IR/asm contains the expected pattern. This is the industry gold standard for codegen integration tests. Seconds, not minutes. Localizes to a pass.</a:t>
            </a:r>
          </a:p>
        </p:txBody>
      </p:sp>
      <p:sp>
        <p:nvSpPr>
          <p:cNvPr id="20" name="Rounded Rectangle 19"/>
          <p:cNvSpPr/>
          <p:nvPr/>
        </p:nvSpPr>
        <p:spPr>
          <a:xfrm>
            <a:off x="411480" y="3218688"/>
            <a:ext cx="502920" cy="777240"/>
          </a:xfrm>
          <a:prstGeom prst="roundRect">
            <a:avLst/>
          </a:prstGeom>
          <a:solidFill>
            <a:srgbClr val="0D7A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3447288"/>
            <a:ext cx="502920" cy="365760"/>
          </a:xfrm>
          <a:prstGeom prst="rect">
            <a:avLst/>
          </a:prstGeom>
          <a:noFill/>
        </p:spPr>
        <p:txBody>
          <a:bodyPr wrap="square">
            <a:spAutoFit/>
          </a:bodyPr>
          <a:lstStyle/>
          <a:p>
            <a:pPr algn="ctr"/>
            <a:r>
              <a:rPr sz="1800" b="1">
                <a:solidFill>
                  <a:srgbClr val="FFFFFF"/>
                </a:solidFill>
                <a:latin typeface="Calibri"/>
              </a:rPr>
              <a:t>3</a:t>
            </a:r>
          </a:p>
        </p:txBody>
      </p:sp>
      <p:sp>
        <p:nvSpPr>
          <p:cNvPr id="22" name="Rounded Rectangle 21"/>
          <p:cNvSpPr/>
          <p:nvPr/>
        </p:nvSpPr>
        <p:spPr>
          <a:xfrm>
            <a:off x="1051560" y="3218688"/>
            <a:ext cx="10698480" cy="868680"/>
          </a:xfrm>
          <a:prstGeom prst="roundRect">
            <a:avLst/>
          </a:prstGeom>
          <a:solidFill>
            <a:srgbClr val="FFFFFF"/>
          </a:solidFill>
          <a:ln w="12700">
            <a:solidFill>
              <a:srgbClr val="D5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34440" y="3291840"/>
            <a:ext cx="10332720" cy="274320"/>
          </a:xfrm>
          <a:prstGeom prst="rect">
            <a:avLst/>
          </a:prstGeom>
          <a:noFill/>
        </p:spPr>
        <p:txBody>
          <a:bodyPr wrap="square">
            <a:spAutoFit/>
          </a:bodyPr>
          <a:lstStyle/>
          <a:p>
            <a:pPr algn="l"/>
            <a:r>
              <a:rPr sz="1500" b="1">
                <a:solidFill>
                  <a:srgbClr val="0B2C4A"/>
                </a:solidFill>
                <a:latin typeface="Calibri"/>
              </a:rPr>
              <a:t>LLVM test-suite (whole programs)</a:t>
            </a:r>
          </a:p>
        </p:txBody>
      </p:sp>
      <p:sp>
        <p:nvSpPr>
          <p:cNvPr id="24" name="TextBox 23"/>
          <p:cNvSpPr txBox="1"/>
          <p:nvPr/>
        </p:nvSpPr>
        <p:spPr>
          <a:xfrm>
            <a:off x="1234440" y="3584448"/>
            <a:ext cx="10332720" cy="457200"/>
          </a:xfrm>
          <a:prstGeom prst="rect">
            <a:avLst/>
          </a:prstGeom>
          <a:noFill/>
        </p:spPr>
        <p:txBody>
          <a:bodyPr wrap="square">
            <a:spAutoFit/>
          </a:bodyPr>
          <a:lstStyle/>
          <a:p>
            <a:pPr algn="l"/>
            <a:r>
              <a:rPr sz="1300" b="0">
                <a:solidFill>
                  <a:srgbClr val="5B6775"/>
                </a:solidFill>
                <a:latin typeface="Calibri"/>
              </a:rPr>
              <a:t>Real programs with reference outputs, compile-time, code size, runtime. Closer to our SIL + metrics suite. Not the first line of defense.</a:t>
            </a:r>
          </a:p>
        </p:txBody>
      </p:sp>
      <p:sp>
        <p:nvSpPr>
          <p:cNvPr id="25" name="Rounded Rectangle 24"/>
          <p:cNvSpPr/>
          <p:nvPr/>
        </p:nvSpPr>
        <p:spPr>
          <a:xfrm>
            <a:off x="411480" y="4178808"/>
            <a:ext cx="502920" cy="777240"/>
          </a:xfrm>
          <a:prstGeom prst="roundRect">
            <a:avLst/>
          </a:prstGeom>
          <a:solidFill>
            <a:srgbClr val="0D7A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80" y="4407408"/>
            <a:ext cx="502920" cy="365760"/>
          </a:xfrm>
          <a:prstGeom prst="rect">
            <a:avLst/>
          </a:prstGeom>
          <a:noFill/>
        </p:spPr>
        <p:txBody>
          <a:bodyPr wrap="square">
            <a:spAutoFit/>
          </a:bodyPr>
          <a:lstStyle/>
          <a:p>
            <a:pPr algn="ctr"/>
            <a:r>
              <a:rPr sz="1800" b="1">
                <a:solidFill>
                  <a:srgbClr val="FFFFFF"/>
                </a:solidFill>
                <a:latin typeface="Calibri"/>
              </a:rPr>
              <a:t>4</a:t>
            </a:r>
          </a:p>
        </p:txBody>
      </p:sp>
      <p:sp>
        <p:nvSpPr>
          <p:cNvPr id="27" name="Rounded Rectangle 26"/>
          <p:cNvSpPr/>
          <p:nvPr/>
        </p:nvSpPr>
        <p:spPr>
          <a:xfrm>
            <a:off x="1051560" y="4178808"/>
            <a:ext cx="10698480" cy="868680"/>
          </a:xfrm>
          <a:prstGeom prst="roundRect">
            <a:avLst/>
          </a:prstGeom>
          <a:solidFill>
            <a:srgbClr val="FFFFFF"/>
          </a:solidFill>
          <a:ln w="12700">
            <a:solidFill>
              <a:srgbClr val="D5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234440" y="4251960"/>
            <a:ext cx="10332720" cy="274320"/>
          </a:xfrm>
          <a:prstGeom prst="rect">
            <a:avLst/>
          </a:prstGeom>
          <a:noFill/>
        </p:spPr>
        <p:txBody>
          <a:bodyPr wrap="square">
            <a:spAutoFit/>
          </a:bodyPr>
          <a:lstStyle/>
          <a:p>
            <a:pPr algn="l"/>
            <a:r>
              <a:rPr sz="1500" b="1">
                <a:solidFill>
                  <a:srgbClr val="0B2C4A"/>
                </a:solidFill>
                <a:latin typeface="Calibri"/>
              </a:rPr>
              <a:t>TI / commercial compilers</a:t>
            </a:r>
          </a:p>
        </p:txBody>
      </p:sp>
      <p:sp>
        <p:nvSpPr>
          <p:cNvPr id="29" name="TextBox 28"/>
          <p:cNvSpPr txBox="1"/>
          <p:nvPr/>
        </p:nvSpPr>
        <p:spPr>
          <a:xfrm>
            <a:off x="1234440" y="4544568"/>
            <a:ext cx="10332720" cy="457200"/>
          </a:xfrm>
          <a:prstGeom prst="rect">
            <a:avLst/>
          </a:prstGeom>
          <a:noFill/>
        </p:spPr>
        <p:txBody>
          <a:bodyPr wrap="square">
            <a:spAutoFit/>
          </a:bodyPr>
          <a:lstStyle/>
          <a:p>
            <a:pPr algn="l"/>
            <a:r>
              <a:rPr sz="1300" b="0">
                <a:solidFill>
                  <a:srgbClr val="5B6775"/>
                </a:solidFill>
                <a:latin typeface="Calibri"/>
              </a:rPr>
              <a:t>Conformance suites (Plum Hall, SuperTest) + in-house kernels + application benchmarks + bug regressions. Kernels check performance and correctness of hot loops — a model for our optimization micro-fixtures.</a:t>
            </a:r>
          </a:p>
        </p:txBody>
      </p:sp>
      <p:sp>
        <p:nvSpPr>
          <p:cNvPr id="30" name="Rounded Rectangle 29"/>
          <p:cNvSpPr/>
          <p:nvPr/>
        </p:nvSpPr>
        <p:spPr>
          <a:xfrm>
            <a:off x="411480" y="5138928"/>
            <a:ext cx="502920" cy="777240"/>
          </a:xfrm>
          <a:prstGeom prst="roundRect">
            <a:avLst/>
          </a:prstGeom>
          <a:solidFill>
            <a:srgbClr val="0D7A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1480" y="5367528"/>
            <a:ext cx="502920" cy="365760"/>
          </a:xfrm>
          <a:prstGeom prst="rect">
            <a:avLst/>
          </a:prstGeom>
          <a:noFill/>
        </p:spPr>
        <p:txBody>
          <a:bodyPr wrap="square">
            <a:spAutoFit/>
          </a:bodyPr>
          <a:lstStyle/>
          <a:p>
            <a:pPr algn="ctr"/>
            <a:r>
              <a:rPr sz="1800" b="1">
                <a:solidFill>
                  <a:srgbClr val="FFFFFF"/>
                </a:solidFill>
                <a:latin typeface="Calibri"/>
              </a:rPr>
              <a:t>5</a:t>
            </a:r>
          </a:p>
        </p:txBody>
      </p:sp>
      <p:sp>
        <p:nvSpPr>
          <p:cNvPr id="32" name="Rounded Rectangle 31"/>
          <p:cNvSpPr/>
          <p:nvPr/>
        </p:nvSpPr>
        <p:spPr>
          <a:xfrm>
            <a:off x="1051560" y="5138928"/>
            <a:ext cx="10698480" cy="868680"/>
          </a:xfrm>
          <a:prstGeom prst="roundRect">
            <a:avLst/>
          </a:prstGeom>
          <a:solidFill>
            <a:srgbClr val="FFFFFF"/>
          </a:solidFill>
          <a:ln w="12700">
            <a:solidFill>
              <a:srgbClr val="D5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234440" y="5212080"/>
            <a:ext cx="10332720" cy="274320"/>
          </a:xfrm>
          <a:prstGeom prst="rect">
            <a:avLst/>
          </a:prstGeom>
          <a:noFill/>
        </p:spPr>
        <p:txBody>
          <a:bodyPr wrap="square">
            <a:spAutoFit/>
          </a:bodyPr>
          <a:lstStyle/>
          <a:p>
            <a:pPr algn="l"/>
            <a:r>
              <a:rPr sz="1500" b="1">
                <a:solidFill>
                  <a:srgbClr val="0B2C4A"/>
                </a:solidFill>
                <a:latin typeface="Calibri"/>
              </a:rPr>
              <a:t>Fuzz / differential (GraphicsFuzz, Csmith, CompFuzzCI)</a:t>
            </a:r>
          </a:p>
        </p:txBody>
      </p:sp>
      <p:sp>
        <p:nvSpPr>
          <p:cNvPr id="34" name="TextBox 33"/>
          <p:cNvSpPr txBox="1"/>
          <p:nvPr/>
        </p:nvSpPr>
        <p:spPr>
          <a:xfrm>
            <a:off x="1234440" y="5504688"/>
            <a:ext cx="10332720" cy="457200"/>
          </a:xfrm>
          <a:prstGeom prst="rect">
            <a:avLst/>
          </a:prstGeom>
          <a:noFill/>
        </p:spPr>
        <p:txBody>
          <a:bodyPr wrap="square">
            <a:spAutoFit/>
          </a:bodyPr>
          <a:lstStyle/>
          <a:p>
            <a:pPr algn="l"/>
            <a:r>
              <a:rPr sz="1300" b="0">
                <a:solidFill>
                  <a:srgbClr val="5B6775"/>
                </a:solidFill>
                <a:latin typeface="Calibri"/>
              </a:rPr>
              <a:t>Random programs + compare compilers or optimization levels. Amazon/Dafny work even puts short fuzz campaigns on PRs. Complementary later; not the first pilot.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73152"/>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10972800" cy="457200"/>
          </a:xfrm>
          <a:prstGeom prst="rect">
            <a:avLst/>
          </a:prstGeom>
          <a:noFill/>
        </p:spPr>
        <p:txBody>
          <a:bodyPr wrap="square">
            <a:spAutoFit/>
          </a:bodyPr>
          <a:lstStyle/>
          <a:p>
            <a:pPr algn="l"/>
            <a:r>
              <a:rPr sz="2800" b="1">
                <a:solidFill>
                  <a:srgbClr val="FFFFFF"/>
                </a:solidFill>
                <a:latin typeface="Calibri"/>
              </a:rPr>
              <a:t>Analogue 2: automotive MBD &amp; codegen QA</a:t>
            </a:r>
          </a:p>
        </p:txBody>
      </p:sp>
      <p:sp>
        <p:nvSpPr>
          <p:cNvPr id="5" name="TextBox 4"/>
          <p:cNvSpPr txBox="1"/>
          <p:nvPr/>
        </p:nvSpPr>
        <p:spPr>
          <a:xfrm>
            <a:off x="457200" y="621792"/>
            <a:ext cx="10972800" cy="320040"/>
          </a:xfrm>
          <a:prstGeom prst="rect">
            <a:avLst/>
          </a:prstGeom>
          <a:noFill/>
        </p:spPr>
        <p:txBody>
          <a:bodyPr wrap="square">
            <a:spAutoFit/>
          </a:bodyPr>
          <a:lstStyle/>
          <a:p>
            <a:pPr algn="l"/>
            <a:r>
              <a:rPr sz="1400" b="0">
                <a:solidFill>
                  <a:srgbClr val="C9D7E5"/>
                </a:solidFill>
                <a:latin typeface="Calibri"/>
              </a:rPr>
              <a:t>How the market around Embedded Coder tests generated code</a:t>
            </a:r>
          </a:p>
        </p:txBody>
      </p:sp>
      <p:sp>
        <p:nvSpPr>
          <p:cNvPr id="6" name="Rectangle 5"/>
          <p:cNvSpPr/>
          <p:nvPr/>
        </p:nvSpPr>
        <p:spPr>
          <a:xfrm>
            <a:off x="0" y="6656832"/>
            <a:ext cx="12191695" cy="20116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647688"/>
            <a:ext cx="9144000" cy="201168"/>
          </a:xfrm>
          <a:prstGeom prst="rect">
            <a:avLst/>
          </a:prstGeom>
          <a:noFill/>
        </p:spPr>
        <p:txBody>
          <a:bodyPr wrap="square">
            <a:spAutoFit/>
          </a:bodyPr>
          <a:lstStyle/>
          <a:p>
            <a:pPr algn="l"/>
            <a:r>
              <a:rPr sz="1000" b="0">
                <a:solidFill>
                  <a:srgbClr val="FFFFFF"/>
                </a:solidFill>
                <a:latin typeface="Calibri"/>
              </a:rPr>
              <a:t>Embedded Coder  ·  Code Efficiency  ·  Integration Testing Proposal  ·  Internal</a:t>
            </a:r>
          </a:p>
        </p:txBody>
      </p:sp>
      <p:sp>
        <p:nvSpPr>
          <p:cNvPr id="8" name="TextBox 7"/>
          <p:cNvSpPr txBox="1"/>
          <p:nvPr/>
        </p:nvSpPr>
        <p:spPr>
          <a:xfrm>
            <a:off x="10607040" y="6647688"/>
            <a:ext cx="1280160" cy="201168"/>
          </a:xfrm>
          <a:prstGeom prst="rect">
            <a:avLst/>
          </a:prstGeom>
          <a:noFill/>
        </p:spPr>
        <p:txBody>
          <a:bodyPr wrap="square">
            <a:spAutoFit/>
          </a:bodyPr>
          <a:lstStyle/>
          <a:p>
            <a:pPr algn="r"/>
            <a:r>
              <a:rPr sz="1000" b="0">
                <a:solidFill>
                  <a:srgbClr val="FFFFFF"/>
                </a:solidFill>
                <a:latin typeface="Calibri"/>
              </a:rPr>
              <a:t>9  /  20</a:t>
            </a:r>
          </a:p>
        </p:txBody>
      </p:sp>
      <p:sp>
        <p:nvSpPr>
          <p:cNvPr id="9" name="Rectangle 8"/>
          <p:cNvSpPr/>
          <p:nvPr/>
        </p:nvSpPr>
        <p:spPr>
          <a:xfrm>
            <a:off x="0" y="1124712"/>
            <a:ext cx="12191695" cy="553212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65760" y="1371600"/>
            <a:ext cx="5715000" cy="2148840"/>
          </a:xfrm>
          <a:prstGeom prst="roundRect">
            <a:avLst/>
          </a:prstGeom>
          <a:solidFill>
            <a:srgbClr val="FFFFFF"/>
          </a:solidFill>
          <a:ln w="12700">
            <a:solidFill>
              <a:srgbClr val="D5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1371600"/>
            <a:ext cx="109728" cy="21488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554480"/>
            <a:ext cx="5212080" cy="411480"/>
          </a:xfrm>
          <a:prstGeom prst="rect">
            <a:avLst/>
          </a:prstGeom>
          <a:noFill/>
        </p:spPr>
        <p:txBody>
          <a:bodyPr wrap="square">
            <a:spAutoFit/>
          </a:bodyPr>
          <a:lstStyle/>
          <a:p>
            <a:pPr algn="l"/>
            <a:r>
              <a:rPr sz="1600" b="1">
                <a:solidFill>
                  <a:srgbClr val="0B2C4A"/>
                </a:solidFill>
                <a:latin typeface="Calibri"/>
              </a:rPr>
              <a:t>Customers (our users)</a:t>
            </a:r>
          </a:p>
        </p:txBody>
      </p:sp>
      <p:sp>
        <p:nvSpPr>
          <p:cNvPr id="13" name="TextBox 12"/>
          <p:cNvSpPr txBox="1"/>
          <p:nvPr/>
        </p:nvSpPr>
        <p:spPr>
          <a:xfrm>
            <a:off x="685800" y="2011680"/>
            <a:ext cx="5212080" cy="1371600"/>
          </a:xfrm>
          <a:prstGeom prst="rect">
            <a:avLst/>
          </a:prstGeom>
          <a:noFill/>
        </p:spPr>
        <p:txBody>
          <a:bodyPr wrap="square">
            <a:spAutoFit/>
          </a:bodyPr>
          <a:lstStyle/>
          <a:p>
            <a:pPr algn="l"/>
            <a:r>
              <a:rPr sz="1300" b="0">
                <a:solidFill>
                  <a:srgbClr val="5B6775"/>
                </a:solidFill>
                <a:latin typeface="Calibri"/>
              </a:rPr>
              <a:t>MIL → SIL → PIL back-to-back, often ISO 26262. Tools: Simulink Test, SIL/PIL Manager, BTC EmbeddedTester (TargetLink and Embedded Coder), EverTest. Their SIL is product verification of generated code vs model. Ours is product verification of the code generator. Same mechanism, different system under test.</a:t>
            </a:r>
          </a:p>
        </p:txBody>
      </p:sp>
      <p:sp>
        <p:nvSpPr>
          <p:cNvPr id="14" name="Rounded Rectangle 13"/>
          <p:cNvSpPr/>
          <p:nvPr/>
        </p:nvSpPr>
        <p:spPr>
          <a:xfrm>
            <a:off x="6263640" y="1371600"/>
            <a:ext cx="5715000" cy="2148840"/>
          </a:xfrm>
          <a:prstGeom prst="roundRect">
            <a:avLst/>
          </a:prstGeom>
          <a:solidFill>
            <a:srgbClr val="FFFFFF"/>
          </a:solidFill>
          <a:ln w="12700">
            <a:solidFill>
              <a:srgbClr val="D5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63640" y="1371600"/>
            <a:ext cx="109728" cy="21488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0" y="1554480"/>
            <a:ext cx="5212080" cy="411480"/>
          </a:xfrm>
          <a:prstGeom prst="rect">
            <a:avLst/>
          </a:prstGeom>
          <a:noFill/>
        </p:spPr>
        <p:txBody>
          <a:bodyPr wrap="square">
            <a:spAutoFit/>
          </a:bodyPr>
          <a:lstStyle/>
          <a:p>
            <a:pPr algn="l"/>
            <a:r>
              <a:rPr sz="1600" b="1">
                <a:solidFill>
                  <a:srgbClr val="0B2C4A"/>
                </a:solidFill>
                <a:latin typeface="Calibri"/>
              </a:rPr>
              <a:t>dSPACE TargetLink + BTC</a:t>
            </a:r>
          </a:p>
        </p:txBody>
      </p:sp>
      <p:sp>
        <p:nvSpPr>
          <p:cNvPr id="17" name="TextBox 16"/>
          <p:cNvSpPr txBox="1"/>
          <p:nvPr/>
        </p:nvSpPr>
        <p:spPr>
          <a:xfrm>
            <a:off x="6583680" y="2011680"/>
            <a:ext cx="5212080" cy="1371600"/>
          </a:xfrm>
          <a:prstGeom prst="rect">
            <a:avLst/>
          </a:prstGeom>
          <a:noFill/>
        </p:spPr>
        <p:txBody>
          <a:bodyPr wrap="square">
            <a:spAutoFit/>
          </a:bodyPr>
          <a:lstStyle/>
          <a:p>
            <a:pPr algn="l"/>
            <a:r>
              <a:rPr sz="1300" b="0">
                <a:solidFill>
                  <a:srgbClr val="5B6775"/>
                </a:solidFill>
                <a:latin typeface="Calibri"/>
              </a:rPr>
              <a:t>Harness extraction from model/code architecture, requirements tests, automated test-vector generation, MIL/SIL/PIL, Jenkins. Migration suites compare tool versions — a pattern we should copy internally when we change optimizers.</a:t>
            </a:r>
          </a:p>
        </p:txBody>
      </p:sp>
      <p:sp>
        <p:nvSpPr>
          <p:cNvPr id="18" name="Rounded Rectangle 17"/>
          <p:cNvSpPr/>
          <p:nvPr/>
        </p:nvSpPr>
        <p:spPr>
          <a:xfrm>
            <a:off x="365760" y="3703320"/>
            <a:ext cx="5715000" cy="2148840"/>
          </a:xfrm>
          <a:prstGeom prst="roundRect">
            <a:avLst/>
          </a:prstGeom>
          <a:solidFill>
            <a:srgbClr val="FFFFFF"/>
          </a:solidFill>
          <a:ln w="12700">
            <a:solidFill>
              <a:srgbClr val="D5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5760" y="3703320"/>
            <a:ext cx="109728" cy="21488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3886200"/>
            <a:ext cx="5212080" cy="411480"/>
          </a:xfrm>
          <a:prstGeom prst="rect">
            <a:avLst/>
          </a:prstGeom>
          <a:noFill/>
        </p:spPr>
        <p:txBody>
          <a:bodyPr wrap="square">
            <a:spAutoFit/>
          </a:bodyPr>
          <a:lstStyle/>
          <a:p>
            <a:pPr algn="l"/>
            <a:r>
              <a:rPr sz="1600" b="1">
                <a:solidFill>
                  <a:srgbClr val="0B2C4A"/>
                </a:solidFill>
                <a:latin typeface="Calibri"/>
              </a:rPr>
              <a:t>Ford / CRL case (public BTC)</a:t>
            </a:r>
          </a:p>
        </p:txBody>
      </p:sp>
      <p:sp>
        <p:nvSpPr>
          <p:cNvPr id="21" name="TextBox 20"/>
          <p:cNvSpPr txBox="1"/>
          <p:nvPr/>
        </p:nvSpPr>
        <p:spPr>
          <a:xfrm>
            <a:off x="685800" y="4343400"/>
            <a:ext cx="5212080" cy="1371600"/>
          </a:xfrm>
          <a:prstGeom prst="rect">
            <a:avLst/>
          </a:prstGeom>
          <a:noFill/>
        </p:spPr>
        <p:txBody>
          <a:bodyPr wrap="square">
            <a:spAutoFit/>
          </a:bodyPr>
          <a:lstStyle/>
          <a:p>
            <a:pPr algn="l"/>
            <a:r>
              <a:rPr sz="1300" b="0">
                <a:solidFill>
                  <a:srgbClr val="5B6775"/>
                </a:solidFill>
                <a:latin typeface="Calibri"/>
              </a:rPr>
              <a:t>Hundreds of reusable library routines, multiple MATLAB releases, Jenkins. Tests sit at the library-function boundary, not a full vehicle SIL. That is integration-scale for generated/replaced code.</a:t>
            </a:r>
          </a:p>
        </p:txBody>
      </p:sp>
      <p:sp>
        <p:nvSpPr>
          <p:cNvPr id="22" name="Rounded Rectangle 21"/>
          <p:cNvSpPr/>
          <p:nvPr/>
        </p:nvSpPr>
        <p:spPr>
          <a:xfrm>
            <a:off x="6263640" y="3703320"/>
            <a:ext cx="5715000" cy="2148840"/>
          </a:xfrm>
          <a:prstGeom prst="roundRect">
            <a:avLst/>
          </a:prstGeom>
          <a:solidFill>
            <a:srgbClr val="FFFFFF"/>
          </a:solidFill>
          <a:ln w="12700">
            <a:solidFill>
              <a:srgbClr val="D5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63640" y="3703320"/>
            <a:ext cx="109728" cy="21488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0" y="3886200"/>
            <a:ext cx="5212080" cy="411480"/>
          </a:xfrm>
          <a:prstGeom prst="rect">
            <a:avLst/>
          </a:prstGeom>
          <a:noFill/>
        </p:spPr>
        <p:txBody>
          <a:bodyPr wrap="square">
            <a:spAutoFit/>
          </a:bodyPr>
          <a:lstStyle/>
          <a:p>
            <a:pPr algn="l"/>
            <a:r>
              <a:rPr sz="1600" b="1">
                <a:solidFill>
                  <a:srgbClr val="0B2C4A"/>
                </a:solidFill>
                <a:latin typeface="Calibri"/>
              </a:rPr>
              <a:t>MathWorks product guidance</a:t>
            </a:r>
          </a:p>
        </p:txBody>
      </p:sp>
      <p:sp>
        <p:nvSpPr>
          <p:cNvPr id="25" name="TextBox 24"/>
          <p:cNvSpPr txBox="1"/>
          <p:nvPr/>
        </p:nvSpPr>
        <p:spPr>
          <a:xfrm>
            <a:off x="6583680" y="4343400"/>
            <a:ext cx="5212080" cy="1371600"/>
          </a:xfrm>
          <a:prstGeom prst="rect">
            <a:avLst/>
          </a:prstGeom>
          <a:noFill/>
        </p:spPr>
        <p:txBody>
          <a:bodyPr wrap="square">
            <a:spAutoFit/>
          </a:bodyPr>
          <a:lstStyle/>
          <a:p>
            <a:pPr algn="l"/>
            <a:r>
              <a:rPr sz="1300" b="0">
                <a:solidFill>
                  <a:srgbClr val="5B6775"/>
                </a:solidFill>
                <a:latin typeface="Calibri"/>
              </a:rPr>
              <a:t>Advisor + static metrics for efficiency; SIL/PIL profiling for timing. The product itself already separates static structure from dynamic execution. Our test strategy should mirror that split.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73152"/>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10972800" cy="457200"/>
          </a:xfrm>
          <a:prstGeom prst="rect">
            <a:avLst/>
          </a:prstGeom>
          <a:noFill/>
        </p:spPr>
        <p:txBody>
          <a:bodyPr wrap="square">
            <a:spAutoFit/>
          </a:bodyPr>
          <a:lstStyle/>
          <a:p>
            <a:pPr algn="l"/>
            <a:r>
              <a:rPr sz="2800" b="1">
                <a:solidFill>
                  <a:srgbClr val="FFFFFF"/>
                </a:solidFill>
                <a:latin typeface="Calibri"/>
              </a:rPr>
              <a:t>Mapping industry layers onto Embedded Coder</a:t>
            </a:r>
          </a:p>
        </p:txBody>
      </p:sp>
      <p:sp>
        <p:nvSpPr>
          <p:cNvPr id="5" name="TextBox 4"/>
          <p:cNvSpPr txBox="1"/>
          <p:nvPr/>
        </p:nvSpPr>
        <p:spPr>
          <a:xfrm>
            <a:off x="457200" y="621792"/>
            <a:ext cx="10972800" cy="320040"/>
          </a:xfrm>
          <a:prstGeom prst="rect">
            <a:avLst/>
          </a:prstGeom>
          <a:noFill/>
        </p:spPr>
        <p:txBody>
          <a:bodyPr wrap="square">
            <a:spAutoFit/>
          </a:bodyPr>
          <a:lstStyle/>
          <a:p>
            <a:pPr algn="l"/>
            <a:r>
              <a:rPr sz="1400" b="0">
                <a:solidFill>
                  <a:srgbClr val="C9D7E5"/>
                </a:solidFill>
                <a:latin typeface="Calibri"/>
              </a:rPr>
              <a:t>Name the layers in our vocabulary so the team can use them</a:t>
            </a:r>
          </a:p>
        </p:txBody>
      </p:sp>
      <p:sp>
        <p:nvSpPr>
          <p:cNvPr id="6" name="Rectangle 5"/>
          <p:cNvSpPr/>
          <p:nvPr/>
        </p:nvSpPr>
        <p:spPr>
          <a:xfrm>
            <a:off x="0" y="6656832"/>
            <a:ext cx="12191695" cy="20116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647688"/>
            <a:ext cx="9144000" cy="201168"/>
          </a:xfrm>
          <a:prstGeom prst="rect">
            <a:avLst/>
          </a:prstGeom>
          <a:noFill/>
        </p:spPr>
        <p:txBody>
          <a:bodyPr wrap="square">
            <a:spAutoFit/>
          </a:bodyPr>
          <a:lstStyle/>
          <a:p>
            <a:pPr algn="l"/>
            <a:r>
              <a:rPr sz="1000" b="0">
                <a:solidFill>
                  <a:srgbClr val="FFFFFF"/>
                </a:solidFill>
                <a:latin typeface="Calibri"/>
              </a:rPr>
              <a:t>Embedded Coder  ·  Code Efficiency  ·  Integration Testing Proposal  ·  Internal</a:t>
            </a:r>
          </a:p>
        </p:txBody>
      </p:sp>
      <p:sp>
        <p:nvSpPr>
          <p:cNvPr id="8" name="TextBox 7"/>
          <p:cNvSpPr txBox="1"/>
          <p:nvPr/>
        </p:nvSpPr>
        <p:spPr>
          <a:xfrm>
            <a:off x="10607040" y="6647688"/>
            <a:ext cx="1280160" cy="201168"/>
          </a:xfrm>
          <a:prstGeom prst="rect">
            <a:avLst/>
          </a:prstGeom>
          <a:noFill/>
        </p:spPr>
        <p:txBody>
          <a:bodyPr wrap="square">
            <a:spAutoFit/>
          </a:bodyPr>
          <a:lstStyle/>
          <a:p>
            <a:pPr algn="r"/>
            <a:r>
              <a:rPr sz="1000" b="0">
                <a:solidFill>
                  <a:srgbClr val="FFFFFF"/>
                </a:solidFill>
                <a:latin typeface="Calibri"/>
              </a:rPr>
              <a:t>10  /  20</a:t>
            </a:r>
          </a:p>
        </p:txBody>
      </p:sp>
      <p:sp>
        <p:nvSpPr>
          <p:cNvPr id="9" name="Rectangle 8"/>
          <p:cNvSpPr/>
          <p:nvPr/>
        </p:nvSpPr>
        <p:spPr>
          <a:xfrm>
            <a:off x="0" y="1124712"/>
            <a:ext cx="12191695" cy="553212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371600"/>
            <a:ext cx="1828800" cy="457200"/>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463040"/>
            <a:ext cx="1691640" cy="292608"/>
          </a:xfrm>
          <a:prstGeom prst="rect">
            <a:avLst/>
          </a:prstGeom>
          <a:noFill/>
        </p:spPr>
        <p:txBody>
          <a:bodyPr wrap="square">
            <a:spAutoFit/>
          </a:bodyPr>
          <a:lstStyle/>
          <a:p>
            <a:pPr algn="l"/>
            <a:r>
              <a:rPr sz="1300" b="1">
                <a:solidFill>
                  <a:srgbClr val="FFFFFF"/>
                </a:solidFill>
                <a:latin typeface="Calibri"/>
              </a:rPr>
              <a:t>Google size</a:t>
            </a:r>
          </a:p>
        </p:txBody>
      </p:sp>
      <p:sp>
        <p:nvSpPr>
          <p:cNvPr id="12" name="Rectangle 11"/>
          <p:cNvSpPr/>
          <p:nvPr/>
        </p:nvSpPr>
        <p:spPr>
          <a:xfrm>
            <a:off x="2240280" y="1371600"/>
            <a:ext cx="2011680" cy="457200"/>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31720" y="1463040"/>
            <a:ext cx="1874520" cy="292608"/>
          </a:xfrm>
          <a:prstGeom prst="rect">
            <a:avLst/>
          </a:prstGeom>
          <a:noFill/>
        </p:spPr>
        <p:txBody>
          <a:bodyPr wrap="square">
            <a:spAutoFit/>
          </a:bodyPr>
          <a:lstStyle/>
          <a:p>
            <a:pPr algn="l"/>
            <a:r>
              <a:rPr sz="1300" b="1">
                <a:solidFill>
                  <a:srgbClr val="FFFFFF"/>
                </a:solidFill>
                <a:latin typeface="Calibri"/>
              </a:rPr>
              <a:t>Our name</a:t>
            </a:r>
          </a:p>
        </p:txBody>
      </p:sp>
      <p:sp>
        <p:nvSpPr>
          <p:cNvPr id="14" name="Rectangle 13"/>
          <p:cNvSpPr/>
          <p:nvPr/>
        </p:nvSpPr>
        <p:spPr>
          <a:xfrm>
            <a:off x="4251960" y="1371600"/>
            <a:ext cx="5212080" cy="457200"/>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43400" y="1463040"/>
            <a:ext cx="5074920" cy="292608"/>
          </a:xfrm>
          <a:prstGeom prst="rect">
            <a:avLst/>
          </a:prstGeom>
          <a:noFill/>
        </p:spPr>
        <p:txBody>
          <a:bodyPr wrap="square">
            <a:spAutoFit/>
          </a:bodyPr>
          <a:lstStyle/>
          <a:p>
            <a:pPr algn="l"/>
            <a:r>
              <a:rPr sz="1300" b="1">
                <a:solidFill>
                  <a:srgbClr val="FFFFFF"/>
                </a:solidFill>
                <a:latin typeface="Calibri"/>
              </a:rPr>
              <a:t>What it actually runs</a:t>
            </a:r>
          </a:p>
        </p:txBody>
      </p:sp>
      <p:sp>
        <p:nvSpPr>
          <p:cNvPr id="16" name="Rectangle 15"/>
          <p:cNvSpPr/>
          <p:nvPr/>
        </p:nvSpPr>
        <p:spPr>
          <a:xfrm>
            <a:off x="9464040" y="1371600"/>
            <a:ext cx="2286000" cy="457200"/>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555480" y="1463040"/>
            <a:ext cx="2148840" cy="292608"/>
          </a:xfrm>
          <a:prstGeom prst="rect">
            <a:avLst/>
          </a:prstGeom>
          <a:noFill/>
        </p:spPr>
        <p:txBody>
          <a:bodyPr wrap="square">
            <a:spAutoFit/>
          </a:bodyPr>
          <a:lstStyle/>
          <a:p>
            <a:pPr algn="l"/>
            <a:r>
              <a:rPr sz="1300" b="1">
                <a:solidFill>
                  <a:srgbClr val="FFFFFF"/>
                </a:solidFill>
                <a:latin typeface="Calibri"/>
              </a:rPr>
              <a:t>When</a:t>
            </a:r>
          </a:p>
        </p:txBody>
      </p:sp>
      <p:sp>
        <p:nvSpPr>
          <p:cNvPr id="18" name="Rectangle 17"/>
          <p:cNvSpPr/>
          <p:nvPr/>
        </p:nvSpPr>
        <p:spPr>
          <a:xfrm>
            <a:off x="411480" y="1828800"/>
            <a:ext cx="1828800"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1965960"/>
            <a:ext cx="1664208" cy="822960"/>
          </a:xfrm>
          <a:prstGeom prst="rect">
            <a:avLst/>
          </a:prstGeom>
          <a:noFill/>
        </p:spPr>
        <p:txBody>
          <a:bodyPr wrap="square">
            <a:spAutoFit/>
          </a:bodyPr>
          <a:lstStyle/>
          <a:p>
            <a:pPr algn="l"/>
            <a:r>
              <a:rPr sz="1300" b="1">
                <a:solidFill>
                  <a:srgbClr val="1C2430"/>
                </a:solidFill>
                <a:latin typeface="Calibri"/>
              </a:rPr>
              <a:t>Small</a:t>
            </a:r>
          </a:p>
        </p:txBody>
      </p:sp>
      <p:sp>
        <p:nvSpPr>
          <p:cNvPr id="20" name="Rectangle 19"/>
          <p:cNvSpPr/>
          <p:nvPr/>
        </p:nvSpPr>
        <p:spPr>
          <a:xfrm>
            <a:off x="2240280" y="1828800"/>
            <a:ext cx="2011680"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331720" y="1965960"/>
            <a:ext cx="1847088" cy="822960"/>
          </a:xfrm>
          <a:prstGeom prst="rect">
            <a:avLst/>
          </a:prstGeom>
          <a:noFill/>
        </p:spPr>
        <p:txBody>
          <a:bodyPr wrap="square">
            <a:spAutoFit/>
          </a:bodyPr>
          <a:lstStyle/>
          <a:p>
            <a:pPr algn="l"/>
            <a:r>
              <a:rPr sz="1300" b="1">
                <a:solidFill>
                  <a:srgbClr val="1C2430"/>
                </a:solidFill>
                <a:latin typeface="Calibri"/>
              </a:rPr>
              <a:t>Unit</a:t>
            </a:r>
          </a:p>
        </p:txBody>
      </p:sp>
      <p:sp>
        <p:nvSpPr>
          <p:cNvPr id="22" name="Rectangle 21"/>
          <p:cNvSpPr/>
          <p:nvPr/>
        </p:nvSpPr>
        <p:spPr>
          <a:xfrm>
            <a:off x="4251960" y="1828800"/>
            <a:ext cx="5212080"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43400" y="1965960"/>
            <a:ext cx="5047488" cy="822960"/>
          </a:xfrm>
          <a:prstGeom prst="rect">
            <a:avLst/>
          </a:prstGeom>
          <a:noFill/>
        </p:spPr>
        <p:txBody>
          <a:bodyPr wrap="square">
            <a:spAutoFit/>
          </a:bodyPr>
          <a:lstStyle/>
          <a:p>
            <a:pPr algn="l"/>
            <a:r>
              <a:rPr sz="1300" b="0">
                <a:solidFill>
                  <a:srgbClr val="1C2430"/>
                </a:solidFill>
                <a:latin typeface="Calibri"/>
              </a:rPr>
              <a:t>One transform, cost model, or API with fakes. No Simulink engine if avoidable.</a:t>
            </a:r>
          </a:p>
        </p:txBody>
      </p:sp>
      <p:sp>
        <p:nvSpPr>
          <p:cNvPr id="24" name="Rectangle 23"/>
          <p:cNvSpPr/>
          <p:nvPr/>
        </p:nvSpPr>
        <p:spPr>
          <a:xfrm>
            <a:off x="9464040" y="1828800"/>
            <a:ext cx="2286000"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555480" y="1965960"/>
            <a:ext cx="2121408" cy="822960"/>
          </a:xfrm>
          <a:prstGeom prst="rect">
            <a:avLst/>
          </a:prstGeom>
          <a:noFill/>
        </p:spPr>
        <p:txBody>
          <a:bodyPr wrap="square">
            <a:spAutoFit/>
          </a:bodyPr>
          <a:lstStyle/>
          <a:p>
            <a:pPr algn="l"/>
            <a:r>
              <a:rPr sz="1300" b="0">
                <a:solidFill>
                  <a:srgbClr val="1C2430"/>
                </a:solidFill>
                <a:latin typeface="Calibri"/>
              </a:rPr>
              <a:t>Every CL / presubmit</a:t>
            </a:r>
          </a:p>
        </p:txBody>
      </p:sp>
      <p:sp>
        <p:nvSpPr>
          <p:cNvPr id="26" name="Rectangle 25"/>
          <p:cNvSpPr/>
          <p:nvPr/>
        </p:nvSpPr>
        <p:spPr>
          <a:xfrm>
            <a:off x="411480" y="2880360"/>
            <a:ext cx="1828800" cy="1051560"/>
          </a:xfrm>
          <a:prstGeom prst="rect">
            <a:avLst/>
          </a:prstGeom>
          <a:solidFill>
            <a:srgbClr val="EE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2920" y="3017520"/>
            <a:ext cx="1664208" cy="822960"/>
          </a:xfrm>
          <a:prstGeom prst="rect">
            <a:avLst/>
          </a:prstGeom>
          <a:noFill/>
        </p:spPr>
        <p:txBody>
          <a:bodyPr wrap="square">
            <a:spAutoFit/>
          </a:bodyPr>
          <a:lstStyle/>
          <a:p>
            <a:pPr algn="l"/>
            <a:r>
              <a:rPr sz="1300" b="1">
                <a:solidFill>
                  <a:srgbClr val="1C2430"/>
                </a:solidFill>
                <a:latin typeface="Calibri"/>
              </a:rPr>
              <a:t>Medium</a:t>
            </a:r>
          </a:p>
        </p:txBody>
      </p:sp>
      <p:sp>
        <p:nvSpPr>
          <p:cNvPr id="28" name="Rectangle 27"/>
          <p:cNvSpPr/>
          <p:nvPr/>
        </p:nvSpPr>
        <p:spPr>
          <a:xfrm>
            <a:off x="2240280" y="2880360"/>
            <a:ext cx="2011680" cy="1051560"/>
          </a:xfrm>
          <a:prstGeom prst="rect">
            <a:avLst/>
          </a:prstGeom>
          <a:solidFill>
            <a:srgbClr val="EE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331720" y="3017520"/>
            <a:ext cx="1847088" cy="822960"/>
          </a:xfrm>
          <a:prstGeom prst="rect">
            <a:avLst/>
          </a:prstGeom>
          <a:noFill/>
        </p:spPr>
        <p:txBody>
          <a:bodyPr wrap="square">
            <a:spAutoFit/>
          </a:bodyPr>
          <a:lstStyle/>
          <a:p>
            <a:pPr algn="l"/>
            <a:r>
              <a:rPr sz="1300" b="1">
                <a:solidFill>
                  <a:srgbClr val="1C2430"/>
                </a:solidFill>
                <a:latin typeface="Calibri"/>
              </a:rPr>
              <a:t>Integration</a:t>
            </a:r>
          </a:p>
        </p:txBody>
      </p:sp>
      <p:sp>
        <p:nvSpPr>
          <p:cNvPr id="30" name="Rectangle 29"/>
          <p:cNvSpPr/>
          <p:nvPr/>
        </p:nvSpPr>
        <p:spPr>
          <a:xfrm>
            <a:off x="4251960" y="2880360"/>
            <a:ext cx="5212080" cy="1051560"/>
          </a:xfrm>
          <a:prstGeom prst="rect">
            <a:avLst/>
          </a:prstGeom>
          <a:solidFill>
            <a:srgbClr val="EE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43400" y="3017520"/>
            <a:ext cx="5047488" cy="822960"/>
          </a:xfrm>
          <a:prstGeom prst="rect">
            <a:avLst/>
          </a:prstGeom>
          <a:noFill/>
        </p:spPr>
        <p:txBody>
          <a:bodyPr wrap="square">
            <a:spAutoFit/>
          </a:bodyPr>
          <a:lstStyle/>
          <a:p>
            <a:pPr algn="l"/>
            <a:r>
              <a:rPr sz="1300" b="0">
                <a:solidFill>
                  <a:srgbClr val="1C2430"/>
                </a:solidFill>
                <a:latin typeface="Calibri"/>
              </a:rPr>
              <a:t>Minimal model or IR fixture → real codegen pipeline through N stages. Assert IR, C, metrics, or compile. Stop before SIL unless the defect class needs execution.</a:t>
            </a:r>
          </a:p>
        </p:txBody>
      </p:sp>
      <p:sp>
        <p:nvSpPr>
          <p:cNvPr id="32" name="Rectangle 31"/>
          <p:cNvSpPr/>
          <p:nvPr/>
        </p:nvSpPr>
        <p:spPr>
          <a:xfrm>
            <a:off x="9464040" y="2880360"/>
            <a:ext cx="2286000" cy="1051560"/>
          </a:xfrm>
          <a:prstGeom prst="rect">
            <a:avLst/>
          </a:prstGeom>
          <a:solidFill>
            <a:srgbClr val="EE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555480" y="3017520"/>
            <a:ext cx="2121408" cy="822960"/>
          </a:xfrm>
          <a:prstGeom prst="rect">
            <a:avLst/>
          </a:prstGeom>
          <a:noFill/>
        </p:spPr>
        <p:txBody>
          <a:bodyPr wrap="square">
            <a:spAutoFit/>
          </a:bodyPr>
          <a:lstStyle/>
          <a:p>
            <a:pPr algn="l"/>
            <a:r>
              <a:rPr sz="1300" b="0">
                <a:solidFill>
                  <a:srgbClr val="1C2430"/>
                </a:solidFill>
                <a:latin typeface="Calibri"/>
              </a:rPr>
              <a:t>Every CL if &lt; few minutes; else gated + merge</a:t>
            </a:r>
          </a:p>
        </p:txBody>
      </p:sp>
      <p:sp>
        <p:nvSpPr>
          <p:cNvPr id="34" name="Rectangle 33"/>
          <p:cNvSpPr/>
          <p:nvPr/>
        </p:nvSpPr>
        <p:spPr>
          <a:xfrm>
            <a:off x="411480" y="3931920"/>
            <a:ext cx="1828800"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2920" y="4069080"/>
            <a:ext cx="1664208" cy="822960"/>
          </a:xfrm>
          <a:prstGeom prst="rect">
            <a:avLst/>
          </a:prstGeom>
          <a:noFill/>
        </p:spPr>
        <p:txBody>
          <a:bodyPr wrap="square">
            <a:spAutoFit/>
          </a:bodyPr>
          <a:lstStyle/>
          <a:p>
            <a:pPr algn="l"/>
            <a:r>
              <a:rPr sz="1300" b="1">
                <a:solidFill>
                  <a:srgbClr val="1C2430"/>
                </a:solidFill>
                <a:latin typeface="Calibri"/>
              </a:rPr>
              <a:t>Large</a:t>
            </a:r>
          </a:p>
        </p:txBody>
      </p:sp>
      <p:sp>
        <p:nvSpPr>
          <p:cNvPr id="36" name="Rectangle 35"/>
          <p:cNvSpPr/>
          <p:nvPr/>
        </p:nvSpPr>
        <p:spPr>
          <a:xfrm>
            <a:off x="2240280" y="3931920"/>
            <a:ext cx="2011680"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331720" y="4069080"/>
            <a:ext cx="1847088" cy="822960"/>
          </a:xfrm>
          <a:prstGeom prst="rect">
            <a:avLst/>
          </a:prstGeom>
          <a:noFill/>
        </p:spPr>
        <p:txBody>
          <a:bodyPr wrap="square">
            <a:spAutoFit/>
          </a:bodyPr>
          <a:lstStyle/>
          <a:p>
            <a:pPr algn="l"/>
            <a:r>
              <a:rPr sz="1300" b="1">
                <a:solidFill>
                  <a:srgbClr val="1C2430"/>
                </a:solidFill>
                <a:latin typeface="Calibri"/>
              </a:rPr>
              <a:t>System</a:t>
            </a:r>
          </a:p>
        </p:txBody>
      </p:sp>
      <p:sp>
        <p:nvSpPr>
          <p:cNvPr id="38" name="Rectangle 37"/>
          <p:cNvSpPr/>
          <p:nvPr/>
        </p:nvSpPr>
        <p:spPr>
          <a:xfrm>
            <a:off x="4251960" y="3931920"/>
            <a:ext cx="5212080"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43400" y="4069080"/>
            <a:ext cx="5047488" cy="822960"/>
          </a:xfrm>
          <a:prstGeom prst="rect">
            <a:avLst/>
          </a:prstGeom>
          <a:noFill/>
        </p:spPr>
        <p:txBody>
          <a:bodyPr wrap="square">
            <a:spAutoFit/>
          </a:bodyPr>
          <a:lstStyle/>
          <a:p>
            <a:pPr algn="l"/>
            <a:r>
              <a:rPr sz="1300" b="0">
                <a:solidFill>
                  <a:srgbClr val="1C2430"/>
                </a:solidFill>
                <a:latin typeface="Calibri"/>
              </a:rPr>
              <a:t>Representative models, full codegen, compile, SIL/PIL, equivalence, profiling.</a:t>
            </a:r>
          </a:p>
        </p:txBody>
      </p:sp>
      <p:sp>
        <p:nvSpPr>
          <p:cNvPr id="40" name="Rectangle 39"/>
          <p:cNvSpPr/>
          <p:nvPr/>
        </p:nvSpPr>
        <p:spPr>
          <a:xfrm>
            <a:off x="9464040" y="3931920"/>
            <a:ext cx="2286000"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555480" y="4069080"/>
            <a:ext cx="2121408" cy="822960"/>
          </a:xfrm>
          <a:prstGeom prst="rect">
            <a:avLst/>
          </a:prstGeom>
          <a:noFill/>
        </p:spPr>
        <p:txBody>
          <a:bodyPr wrap="square">
            <a:spAutoFit/>
          </a:bodyPr>
          <a:lstStyle/>
          <a:p>
            <a:pPr algn="l"/>
            <a:r>
              <a:rPr sz="1300" b="0">
                <a:solidFill>
                  <a:srgbClr val="1C2430"/>
                </a:solidFill>
                <a:latin typeface="Calibri"/>
              </a:rPr>
              <a:t>Nightly / pre-release / selected smoke</a:t>
            </a:r>
          </a:p>
        </p:txBody>
      </p:sp>
      <p:sp>
        <p:nvSpPr>
          <p:cNvPr id="42" name="Rectangle 41"/>
          <p:cNvSpPr/>
          <p:nvPr/>
        </p:nvSpPr>
        <p:spPr>
          <a:xfrm>
            <a:off x="411480" y="4983479"/>
            <a:ext cx="1828800" cy="1051560"/>
          </a:xfrm>
          <a:prstGeom prst="rect">
            <a:avLst/>
          </a:prstGeom>
          <a:solidFill>
            <a:srgbClr val="EE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2920" y="5120639"/>
            <a:ext cx="1664208" cy="822960"/>
          </a:xfrm>
          <a:prstGeom prst="rect">
            <a:avLst/>
          </a:prstGeom>
          <a:noFill/>
        </p:spPr>
        <p:txBody>
          <a:bodyPr wrap="square">
            <a:spAutoFit/>
          </a:bodyPr>
          <a:lstStyle/>
          <a:p>
            <a:pPr algn="l"/>
            <a:r>
              <a:rPr sz="1300" b="1">
                <a:solidFill>
                  <a:srgbClr val="1C2430"/>
                </a:solidFill>
                <a:latin typeface="Calibri"/>
              </a:rPr>
              <a:t>Huge / soak</a:t>
            </a:r>
          </a:p>
        </p:txBody>
      </p:sp>
      <p:sp>
        <p:nvSpPr>
          <p:cNvPr id="44" name="Rectangle 43"/>
          <p:cNvSpPr/>
          <p:nvPr/>
        </p:nvSpPr>
        <p:spPr>
          <a:xfrm>
            <a:off x="2240280" y="4983479"/>
            <a:ext cx="2011680" cy="1051560"/>
          </a:xfrm>
          <a:prstGeom prst="rect">
            <a:avLst/>
          </a:prstGeom>
          <a:solidFill>
            <a:srgbClr val="EE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331720" y="5120639"/>
            <a:ext cx="1847088" cy="822960"/>
          </a:xfrm>
          <a:prstGeom prst="rect">
            <a:avLst/>
          </a:prstGeom>
          <a:noFill/>
        </p:spPr>
        <p:txBody>
          <a:bodyPr wrap="square">
            <a:spAutoFit/>
          </a:bodyPr>
          <a:lstStyle/>
          <a:p>
            <a:pPr algn="l"/>
            <a:r>
              <a:rPr sz="1300" b="1">
                <a:solidFill>
                  <a:srgbClr val="1C2430"/>
                </a:solidFill>
                <a:latin typeface="Calibri"/>
              </a:rPr>
              <a:t>Qualification &amp; fuzz</a:t>
            </a:r>
          </a:p>
        </p:txBody>
      </p:sp>
      <p:sp>
        <p:nvSpPr>
          <p:cNvPr id="46" name="Rectangle 45"/>
          <p:cNvSpPr/>
          <p:nvPr/>
        </p:nvSpPr>
        <p:spPr>
          <a:xfrm>
            <a:off x="4251960" y="4983479"/>
            <a:ext cx="5212080" cy="1051560"/>
          </a:xfrm>
          <a:prstGeom prst="rect">
            <a:avLst/>
          </a:prstGeom>
          <a:solidFill>
            <a:srgbClr val="EE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343400" y="5120639"/>
            <a:ext cx="5047488" cy="822960"/>
          </a:xfrm>
          <a:prstGeom prst="rect">
            <a:avLst/>
          </a:prstGeom>
          <a:noFill/>
        </p:spPr>
        <p:txBody>
          <a:bodyPr wrap="square">
            <a:spAutoFit/>
          </a:bodyPr>
          <a:lstStyle/>
          <a:p>
            <a:pPr algn="l"/>
            <a:r>
              <a:rPr sz="1300" b="0">
                <a:solidFill>
                  <a:srgbClr val="1C2430"/>
                </a:solidFill>
                <a:latin typeface="Calibri"/>
              </a:rPr>
              <a:t>Conformance, random models, version-to-version migration, long-tail targets.</a:t>
            </a:r>
          </a:p>
        </p:txBody>
      </p:sp>
      <p:sp>
        <p:nvSpPr>
          <p:cNvPr id="48" name="Rectangle 47"/>
          <p:cNvSpPr/>
          <p:nvPr/>
        </p:nvSpPr>
        <p:spPr>
          <a:xfrm>
            <a:off x="9464040" y="4983479"/>
            <a:ext cx="2286000" cy="1051560"/>
          </a:xfrm>
          <a:prstGeom prst="rect">
            <a:avLst/>
          </a:prstGeom>
          <a:solidFill>
            <a:srgbClr val="EE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555480" y="5120639"/>
            <a:ext cx="2121408" cy="822960"/>
          </a:xfrm>
          <a:prstGeom prst="rect">
            <a:avLst/>
          </a:prstGeom>
          <a:noFill/>
        </p:spPr>
        <p:txBody>
          <a:bodyPr wrap="square">
            <a:spAutoFit/>
          </a:bodyPr>
          <a:lstStyle/>
          <a:p>
            <a:pPr algn="l"/>
            <a:r>
              <a:rPr sz="1300" b="0">
                <a:solidFill>
                  <a:srgbClr val="1C2430"/>
                </a:solidFill>
                <a:latin typeface="Calibri"/>
              </a:rPr>
              <a:t>Scheduled / milestone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73152"/>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10972800" cy="457200"/>
          </a:xfrm>
          <a:prstGeom prst="rect">
            <a:avLst/>
          </a:prstGeom>
          <a:noFill/>
        </p:spPr>
        <p:txBody>
          <a:bodyPr wrap="square">
            <a:spAutoFit/>
          </a:bodyPr>
          <a:lstStyle/>
          <a:p>
            <a:pPr algn="l"/>
            <a:r>
              <a:rPr sz="2800" b="1">
                <a:solidFill>
                  <a:srgbClr val="FFFFFF"/>
                </a:solidFill>
                <a:latin typeface="Calibri"/>
              </a:rPr>
              <a:t>Gap analysis for Code Efficiency</a:t>
            </a:r>
          </a:p>
        </p:txBody>
      </p:sp>
      <p:sp>
        <p:nvSpPr>
          <p:cNvPr id="5" name="TextBox 4"/>
          <p:cNvSpPr txBox="1"/>
          <p:nvPr/>
        </p:nvSpPr>
        <p:spPr>
          <a:xfrm>
            <a:off x="457200" y="621792"/>
            <a:ext cx="10972800" cy="320040"/>
          </a:xfrm>
          <a:prstGeom prst="rect">
            <a:avLst/>
          </a:prstGeom>
          <a:noFill/>
        </p:spPr>
        <p:txBody>
          <a:bodyPr wrap="square">
            <a:spAutoFit/>
          </a:bodyPr>
          <a:lstStyle/>
          <a:p>
            <a:pPr algn="l"/>
            <a:r>
              <a:rPr sz="1400" b="0">
                <a:solidFill>
                  <a:srgbClr val="C9D7E5"/>
                </a:solidFill>
                <a:latin typeface="Calibri"/>
              </a:rPr>
              <a:t>SIL is a great system test. It is an expensive integration test.</a:t>
            </a:r>
          </a:p>
        </p:txBody>
      </p:sp>
      <p:sp>
        <p:nvSpPr>
          <p:cNvPr id="6" name="Rectangle 5"/>
          <p:cNvSpPr/>
          <p:nvPr/>
        </p:nvSpPr>
        <p:spPr>
          <a:xfrm>
            <a:off x="0" y="6656832"/>
            <a:ext cx="12191695" cy="20116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647688"/>
            <a:ext cx="9144000" cy="201168"/>
          </a:xfrm>
          <a:prstGeom prst="rect">
            <a:avLst/>
          </a:prstGeom>
          <a:noFill/>
        </p:spPr>
        <p:txBody>
          <a:bodyPr wrap="square">
            <a:spAutoFit/>
          </a:bodyPr>
          <a:lstStyle/>
          <a:p>
            <a:pPr algn="l"/>
            <a:r>
              <a:rPr sz="1000" b="0">
                <a:solidFill>
                  <a:srgbClr val="FFFFFF"/>
                </a:solidFill>
                <a:latin typeface="Calibri"/>
              </a:rPr>
              <a:t>Embedded Coder  ·  Code Efficiency  ·  Integration Testing Proposal  ·  Internal</a:t>
            </a:r>
          </a:p>
        </p:txBody>
      </p:sp>
      <p:sp>
        <p:nvSpPr>
          <p:cNvPr id="8" name="TextBox 7"/>
          <p:cNvSpPr txBox="1"/>
          <p:nvPr/>
        </p:nvSpPr>
        <p:spPr>
          <a:xfrm>
            <a:off x="10607040" y="6647688"/>
            <a:ext cx="1280160" cy="201168"/>
          </a:xfrm>
          <a:prstGeom prst="rect">
            <a:avLst/>
          </a:prstGeom>
          <a:noFill/>
        </p:spPr>
        <p:txBody>
          <a:bodyPr wrap="square">
            <a:spAutoFit/>
          </a:bodyPr>
          <a:lstStyle/>
          <a:p>
            <a:pPr algn="r"/>
            <a:r>
              <a:rPr sz="1000" b="0">
                <a:solidFill>
                  <a:srgbClr val="FFFFFF"/>
                </a:solidFill>
                <a:latin typeface="Calibri"/>
              </a:rPr>
              <a:t>11  /  20</a:t>
            </a:r>
          </a:p>
        </p:txBody>
      </p:sp>
      <p:sp>
        <p:nvSpPr>
          <p:cNvPr id="9" name="Rectangle 8"/>
          <p:cNvSpPr/>
          <p:nvPr/>
        </p:nvSpPr>
        <p:spPr>
          <a:xfrm>
            <a:off x="0" y="1124712"/>
            <a:ext cx="12191695" cy="553212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65760" y="1371600"/>
            <a:ext cx="5669280" cy="4160520"/>
          </a:xfrm>
          <a:prstGeom prst="roundRect">
            <a:avLst/>
          </a:prstGeom>
          <a:solidFill>
            <a:srgbClr val="FFFFFF"/>
          </a:solidFill>
          <a:ln w="12700">
            <a:solidFill>
              <a:srgbClr val="D5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1371600"/>
            <a:ext cx="5669280" cy="5029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444752"/>
            <a:ext cx="5303520" cy="365760"/>
          </a:xfrm>
          <a:prstGeom prst="rect">
            <a:avLst/>
          </a:prstGeom>
          <a:noFill/>
        </p:spPr>
        <p:txBody>
          <a:bodyPr wrap="square">
            <a:spAutoFit/>
          </a:bodyPr>
          <a:lstStyle/>
          <a:p>
            <a:pPr algn="l"/>
            <a:r>
              <a:rPr sz="1600" b="1">
                <a:solidFill>
                  <a:srgbClr val="FFFFFF"/>
                </a:solidFill>
                <a:latin typeface="Calibri"/>
              </a:rPr>
              <a:t>SIL is a weak / late detector for…</a:t>
            </a:r>
          </a:p>
        </p:txBody>
      </p:sp>
      <p:sp>
        <p:nvSpPr>
          <p:cNvPr id="13" name="TextBox 12"/>
          <p:cNvSpPr txBox="1"/>
          <p:nvPr/>
        </p:nvSpPr>
        <p:spPr>
          <a:xfrm>
            <a:off x="594360" y="2011680"/>
            <a:ext cx="5212080" cy="3291840"/>
          </a:xfrm>
          <a:prstGeom prst="rect">
            <a:avLst/>
          </a:prstGeom>
          <a:noFill/>
        </p:spPr>
        <p:txBody>
          <a:bodyPr wrap="square">
            <a:spAutoFit/>
          </a:bodyPr>
          <a:lstStyle/>
          <a:p>
            <a:pPr algn="l">
              <a:spcAft>
                <a:spcPts val="800"/>
              </a:spcAft>
            </a:pPr>
            <a:r>
              <a:rPr sz="1500" b="0">
                <a:solidFill>
                  <a:srgbClr val="1C2430"/>
                </a:solidFill>
                <a:latin typeface="Calibri"/>
              </a:rPr>
              <a:t>•  A copy was not eliminated, but numbers still match.</a:t>
            </a:r>
          </a:p>
          <a:p>
            <a:pPr algn="l">
              <a:spcAft>
                <a:spcPts val="800"/>
              </a:spcAft>
            </a:pPr>
            <a:r>
              <a:rPr sz="1500" b="0">
                <a:solidFill>
                  <a:srgbClr val="1C2430"/>
                </a:solidFill>
                <a:latin typeface="Calibri"/>
              </a:rPr>
              <a:t>•  An optimization did not fire (wrong IR, wrong setting).</a:t>
            </a:r>
          </a:p>
          <a:p>
            <a:pPr algn="l">
              <a:spcAft>
                <a:spcPts val="800"/>
              </a:spcAft>
            </a:pPr>
            <a:r>
              <a:rPr sz="1500" b="0">
                <a:solidFill>
                  <a:srgbClr val="1C2430"/>
                </a:solidFill>
                <a:latin typeface="Calibri"/>
              </a:rPr>
              <a:t>•  Two passes interact and undo each other.</a:t>
            </a:r>
          </a:p>
          <a:p>
            <a:pPr algn="l">
              <a:spcAft>
                <a:spcPts val="800"/>
              </a:spcAft>
            </a:pPr>
            <a:r>
              <a:rPr sz="1500" b="0">
                <a:solidFill>
                  <a:srgbClr val="1C2430"/>
                </a:solidFill>
                <a:latin typeface="Calibri"/>
              </a:rPr>
              <a:t>•  Static metrics / report plumbing broke.</a:t>
            </a:r>
          </a:p>
          <a:p>
            <a:pPr algn="l">
              <a:spcAft>
                <a:spcPts val="800"/>
              </a:spcAft>
            </a:pPr>
            <a:r>
              <a:rPr sz="1500" b="0">
                <a:solidFill>
                  <a:srgbClr val="1C2430"/>
                </a:solidFill>
                <a:latin typeface="Calibri"/>
              </a:rPr>
              <a:t>•  Generated C still compiles but structure regressed.</a:t>
            </a:r>
          </a:p>
          <a:p>
            <a:pPr algn="l">
              <a:spcAft>
                <a:spcPts val="800"/>
              </a:spcAft>
            </a:pPr>
            <a:r>
              <a:rPr sz="1500" b="0">
                <a:solidFill>
                  <a:srgbClr val="1C2430"/>
                </a:solidFill>
                <a:latin typeface="Calibri"/>
              </a:rPr>
              <a:t>•  A config objective mapped to the wrong Details flags.</a:t>
            </a:r>
          </a:p>
        </p:txBody>
      </p:sp>
      <p:sp>
        <p:nvSpPr>
          <p:cNvPr id="14" name="Rounded Rectangle 13"/>
          <p:cNvSpPr/>
          <p:nvPr/>
        </p:nvSpPr>
        <p:spPr>
          <a:xfrm>
            <a:off x="6217920" y="1371600"/>
            <a:ext cx="5577840" cy="4160520"/>
          </a:xfrm>
          <a:prstGeom prst="roundRect">
            <a:avLst/>
          </a:prstGeom>
          <a:solidFill>
            <a:srgbClr val="FFFFFF"/>
          </a:solidFill>
          <a:ln w="12700">
            <a:solidFill>
              <a:srgbClr val="D5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1371600"/>
            <a:ext cx="5577840" cy="502920"/>
          </a:xfrm>
          <a:prstGeom prst="rect">
            <a:avLst/>
          </a:prstGeom>
          <a:solidFill>
            <a:srgbClr val="1F8A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1444752"/>
            <a:ext cx="5212080" cy="365760"/>
          </a:xfrm>
          <a:prstGeom prst="rect">
            <a:avLst/>
          </a:prstGeom>
          <a:noFill/>
        </p:spPr>
        <p:txBody>
          <a:bodyPr wrap="square">
            <a:spAutoFit/>
          </a:bodyPr>
          <a:lstStyle/>
          <a:p>
            <a:pPr algn="l"/>
            <a:r>
              <a:rPr sz="1600" b="1">
                <a:solidFill>
                  <a:srgbClr val="FFFFFF"/>
                </a:solidFill>
                <a:latin typeface="Calibri"/>
              </a:rPr>
              <a:t>Keep SIL as the detector for…</a:t>
            </a:r>
          </a:p>
        </p:txBody>
      </p:sp>
      <p:sp>
        <p:nvSpPr>
          <p:cNvPr id="17" name="TextBox 16"/>
          <p:cNvSpPr txBox="1"/>
          <p:nvPr/>
        </p:nvSpPr>
        <p:spPr>
          <a:xfrm>
            <a:off x="6446520" y="2011680"/>
            <a:ext cx="5120640" cy="3291840"/>
          </a:xfrm>
          <a:prstGeom prst="rect">
            <a:avLst/>
          </a:prstGeom>
          <a:noFill/>
        </p:spPr>
        <p:txBody>
          <a:bodyPr wrap="square">
            <a:spAutoFit/>
          </a:bodyPr>
          <a:lstStyle/>
          <a:p>
            <a:pPr algn="l">
              <a:spcAft>
                <a:spcPts val="800"/>
              </a:spcAft>
            </a:pPr>
            <a:r>
              <a:rPr sz="1500" b="0">
                <a:solidFill>
                  <a:srgbClr val="1C2430"/>
                </a:solidFill>
                <a:latin typeface="Calibri"/>
              </a:rPr>
              <a:t>•  Numerical mismatch vs Normal / MIL.</a:t>
            </a:r>
          </a:p>
          <a:p>
            <a:pPr algn="l">
              <a:spcAft>
                <a:spcPts val="800"/>
              </a:spcAft>
            </a:pPr>
            <a:r>
              <a:rPr sz="1500" b="0">
                <a:solidFill>
                  <a:srgbClr val="1C2430"/>
                </a:solidFill>
                <a:latin typeface="Calibri"/>
              </a:rPr>
              <a:t>•  Runtime crash, timeout, or stack overflow in SIL.</a:t>
            </a:r>
          </a:p>
          <a:p>
            <a:pPr algn="l">
              <a:spcAft>
                <a:spcPts val="800"/>
              </a:spcAft>
            </a:pPr>
            <a:r>
              <a:rPr sz="1500" b="0">
                <a:solidFill>
                  <a:srgbClr val="1C2430"/>
                </a:solidFill>
                <a:latin typeface="Calibri"/>
              </a:rPr>
              <a:t>•  Profiling numbers on a representative model.</a:t>
            </a:r>
          </a:p>
          <a:p>
            <a:pPr algn="l">
              <a:spcAft>
                <a:spcPts val="800"/>
              </a:spcAft>
            </a:pPr>
            <a:r>
              <a:rPr sz="1500" b="0">
                <a:solidFill>
                  <a:srgbClr val="1C2430"/>
                </a:solidFill>
                <a:latin typeface="Calibri"/>
              </a:rPr>
              <a:t>•  Target / toolchain / PIL issues.</a:t>
            </a:r>
          </a:p>
          <a:p>
            <a:pPr algn="l">
              <a:spcAft>
                <a:spcPts val="800"/>
              </a:spcAft>
            </a:pPr>
            <a:r>
              <a:rPr sz="1500" b="0">
                <a:solidFill>
                  <a:srgbClr val="1C2430"/>
                </a:solidFill>
                <a:latin typeface="Calibri"/>
              </a:rPr>
              <a:t>•  Emergent behavior across referenced models.</a:t>
            </a:r>
          </a:p>
          <a:p>
            <a:pPr algn="l">
              <a:spcAft>
                <a:spcPts val="800"/>
              </a:spcAft>
            </a:pPr>
            <a:r>
              <a:rPr sz="1500" b="0">
                <a:solidFill>
                  <a:srgbClr val="1C2430"/>
                </a:solidFill>
                <a:latin typeface="Calibri"/>
              </a:rPr>
              <a:t>•  Customer-visible codegen + verify workflow.</a:t>
            </a:r>
          </a:p>
        </p:txBody>
      </p:sp>
      <p:sp>
        <p:nvSpPr>
          <p:cNvPr id="18" name="TextBox 17"/>
          <p:cNvSpPr txBox="1"/>
          <p:nvPr/>
        </p:nvSpPr>
        <p:spPr>
          <a:xfrm>
            <a:off x="411480" y="5669280"/>
            <a:ext cx="11338560" cy="731520"/>
          </a:xfrm>
          <a:prstGeom prst="rect">
            <a:avLst/>
          </a:prstGeom>
          <a:noFill/>
        </p:spPr>
        <p:txBody>
          <a:bodyPr wrap="square">
            <a:spAutoFit/>
          </a:bodyPr>
          <a:lstStyle/>
          <a:p>
            <a:pPr algn="l"/>
            <a:r>
              <a:rPr sz="1500" b="0">
                <a:solidFill>
                  <a:srgbClr val="1C2430"/>
                </a:solidFill>
                <a:latin typeface="Calibri"/>
              </a:rPr>
              <a:t>Proposal principle: match the oracle to the defect class. Efficiency bugs are mostly structural and metric. Correctness bugs still need execution. Do not force one oracle to serve both.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73152"/>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10972800" cy="457200"/>
          </a:xfrm>
          <a:prstGeom prst="rect">
            <a:avLst/>
          </a:prstGeom>
          <a:noFill/>
        </p:spPr>
        <p:txBody>
          <a:bodyPr wrap="square">
            <a:spAutoFit/>
          </a:bodyPr>
          <a:lstStyle/>
          <a:p>
            <a:pPr algn="l"/>
            <a:r>
              <a:rPr sz="2800" b="1">
                <a:solidFill>
                  <a:srgbClr val="FFFFFF"/>
                </a:solidFill>
                <a:latin typeface="Calibri"/>
              </a:rPr>
              <a:t>Proposal: a four-layer strategy for this team</a:t>
            </a:r>
          </a:p>
        </p:txBody>
      </p:sp>
      <p:sp>
        <p:nvSpPr>
          <p:cNvPr id="5" name="TextBox 4"/>
          <p:cNvSpPr txBox="1"/>
          <p:nvPr/>
        </p:nvSpPr>
        <p:spPr>
          <a:xfrm>
            <a:off x="457200" y="621792"/>
            <a:ext cx="10972800" cy="320040"/>
          </a:xfrm>
          <a:prstGeom prst="rect">
            <a:avLst/>
          </a:prstGeom>
          <a:noFill/>
        </p:spPr>
        <p:txBody>
          <a:bodyPr wrap="square">
            <a:spAutoFit/>
          </a:bodyPr>
          <a:lstStyle/>
          <a:p>
            <a:pPr algn="l"/>
            <a:r>
              <a:rPr sz="1400" b="0">
                <a:solidFill>
                  <a:srgbClr val="C9D7E5"/>
                </a:solidFill>
                <a:latin typeface="Calibri"/>
              </a:rPr>
              <a:t>Integration is Layer 2 — new investment, not a rename of SIL</a:t>
            </a:r>
          </a:p>
        </p:txBody>
      </p:sp>
      <p:sp>
        <p:nvSpPr>
          <p:cNvPr id="6" name="Rectangle 5"/>
          <p:cNvSpPr/>
          <p:nvPr/>
        </p:nvSpPr>
        <p:spPr>
          <a:xfrm>
            <a:off x="0" y="6656832"/>
            <a:ext cx="12191695" cy="20116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647688"/>
            <a:ext cx="9144000" cy="201168"/>
          </a:xfrm>
          <a:prstGeom prst="rect">
            <a:avLst/>
          </a:prstGeom>
          <a:noFill/>
        </p:spPr>
        <p:txBody>
          <a:bodyPr wrap="square">
            <a:spAutoFit/>
          </a:bodyPr>
          <a:lstStyle/>
          <a:p>
            <a:pPr algn="l"/>
            <a:r>
              <a:rPr sz="1000" b="0">
                <a:solidFill>
                  <a:srgbClr val="FFFFFF"/>
                </a:solidFill>
                <a:latin typeface="Calibri"/>
              </a:rPr>
              <a:t>Embedded Coder  ·  Code Efficiency  ·  Integration Testing Proposal  ·  Internal</a:t>
            </a:r>
          </a:p>
        </p:txBody>
      </p:sp>
      <p:sp>
        <p:nvSpPr>
          <p:cNvPr id="8" name="TextBox 7"/>
          <p:cNvSpPr txBox="1"/>
          <p:nvPr/>
        </p:nvSpPr>
        <p:spPr>
          <a:xfrm>
            <a:off x="10607040" y="6647688"/>
            <a:ext cx="1280160" cy="201168"/>
          </a:xfrm>
          <a:prstGeom prst="rect">
            <a:avLst/>
          </a:prstGeom>
          <a:noFill/>
        </p:spPr>
        <p:txBody>
          <a:bodyPr wrap="square">
            <a:spAutoFit/>
          </a:bodyPr>
          <a:lstStyle/>
          <a:p>
            <a:pPr algn="r"/>
            <a:r>
              <a:rPr sz="1000" b="0">
                <a:solidFill>
                  <a:srgbClr val="FFFFFF"/>
                </a:solidFill>
                <a:latin typeface="Calibri"/>
              </a:rPr>
              <a:t>12  /  20</a:t>
            </a:r>
          </a:p>
        </p:txBody>
      </p:sp>
      <p:sp>
        <p:nvSpPr>
          <p:cNvPr id="9" name="Rectangle 8"/>
          <p:cNvSpPr/>
          <p:nvPr/>
        </p:nvSpPr>
        <p:spPr>
          <a:xfrm>
            <a:off x="0" y="1124712"/>
            <a:ext cx="12191695" cy="553212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11480" y="1325880"/>
            <a:ext cx="2377440" cy="1051560"/>
          </a:xfrm>
          <a:prstGeom prst="roundRect">
            <a:avLst/>
          </a:prstGeom>
          <a:solidFill>
            <a:srgbClr val="1F8A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554480"/>
            <a:ext cx="2194560" cy="365760"/>
          </a:xfrm>
          <a:prstGeom prst="rect">
            <a:avLst/>
          </a:prstGeom>
          <a:noFill/>
        </p:spPr>
        <p:txBody>
          <a:bodyPr wrap="square">
            <a:spAutoFit/>
          </a:bodyPr>
          <a:lstStyle/>
          <a:p>
            <a:pPr algn="ctr"/>
            <a:r>
              <a:rPr sz="1600" b="1">
                <a:solidFill>
                  <a:srgbClr val="FFFFFF"/>
                </a:solidFill>
                <a:latin typeface="Calibri"/>
              </a:rPr>
              <a:t>L1  Unit</a:t>
            </a:r>
          </a:p>
        </p:txBody>
      </p:sp>
      <p:sp>
        <p:nvSpPr>
          <p:cNvPr id="12" name="TextBox 11"/>
          <p:cNvSpPr txBox="1"/>
          <p:nvPr/>
        </p:nvSpPr>
        <p:spPr>
          <a:xfrm>
            <a:off x="502920" y="1920240"/>
            <a:ext cx="2194560" cy="320040"/>
          </a:xfrm>
          <a:prstGeom prst="rect">
            <a:avLst/>
          </a:prstGeom>
          <a:noFill/>
        </p:spPr>
        <p:txBody>
          <a:bodyPr wrap="square">
            <a:spAutoFit/>
          </a:bodyPr>
          <a:lstStyle/>
          <a:p>
            <a:pPr algn="ctr"/>
            <a:r>
              <a:rPr sz="1200" b="0">
                <a:solidFill>
                  <a:srgbClr val="FFFFFF"/>
                </a:solidFill>
                <a:latin typeface="Calibri"/>
              </a:rPr>
              <a:t>Existing + grow</a:t>
            </a:r>
          </a:p>
        </p:txBody>
      </p:sp>
      <p:sp>
        <p:nvSpPr>
          <p:cNvPr id="13" name="Rounded Rectangle 12"/>
          <p:cNvSpPr/>
          <p:nvPr/>
        </p:nvSpPr>
        <p:spPr>
          <a:xfrm>
            <a:off x="2971800" y="1325880"/>
            <a:ext cx="8778240" cy="1051560"/>
          </a:xfrm>
          <a:prstGeom prst="roundRect">
            <a:avLst/>
          </a:prstGeom>
          <a:solidFill>
            <a:srgbClr val="FFFFFF"/>
          </a:solidFill>
          <a:ln w="12700">
            <a:solidFill>
              <a:srgbClr val="D5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0" y="1554480"/>
            <a:ext cx="8412480" cy="640080"/>
          </a:xfrm>
          <a:prstGeom prst="rect">
            <a:avLst/>
          </a:prstGeom>
          <a:noFill/>
        </p:spPr>
        <p:txBody>
          <a:bodyPr wrap="square">
            <a:spAutoFit/>
          </a:bodyPr>
          <a:lstStyle/>
          <a:p>
            <a:pPr algn="l"/>
            <a:r>
              <a:rPr sz="1500" b="0">
                <a:solidFill>
                  <a:srgbClr val="1C2430"/>
                </a:solidFill>
                <a:latin typeface="Calibri"/>
              </a:rPr>
              <a:t>Transform unit tests, cost models, config mapping tables, report parsers. No model load when possible.</a:t>
            </a:r>
          </a:p>
        </p:txBody>
      </p:sp>
      <p:sp>
        <p:nvSpPr>
          <p:cNvPr id="15" name="Rounded Rectangle 14"/>
          <p:cNvSpPr/>
          <p:nvPr/>
        </p:nvSpPr>
        <p:spPr>
          <a:xfrm>
            <a:off x="411480" y="2514600"/>
            <a:ext cx="2377440" cy="1051560"/>
          </a:xfrm>
          <a:prstGeom prst="round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2743200"/>
            <a:ext cx="2194560" cy="365760"/>
          </a:xfrm>
          <a:prstGeom prst="rect">
            <a:avLst/>
          </a:prstGeom>
          <a:noFill/>
        </p:spPr>
        <p:txBody>
          <a:bodyPr wrap="square">
            <a:spAutoFit/>
          </a:bodyPr>
          <a:lstStyle/>
          <a:p>
            <a:pPr algn="ctr"/>
            <a:r>
              <a:rPr sz="1600" b="1">
                <a:solidFill>
                  <a:srgbClr val="FFFFFF"/>
                </a:solidFill>
                <a:latin typeface="Calibri"/>
              </a:rPr>
              <a:t>L2  Integration  ★</a:t>
            </a:r>
          </a:p>
        </p:txBody>
      </p:sp>
      <p:sp>
        <p:nvSpPr>
          <p:cNvPr id="17" name="TextBox 16"/>
          <p:cNvSpPr txBox="1"/>
          <p:nvPr/>
        </p:nvSpPr>
        <p:spPr>
          <a:xfrm>
            <a:off x="502920" y="3108960"/>
            <a:ext cx="2194560" cy="320040"/>
          </a:xfrm>
          <a:prstGeom prst="rect">
            <a:avLst/>
          </a:prstGeom>
          <a:noFill/>
        </p:spPr>
        <p:txBody>
          <a:bodyPr wrap="square">
            <a:spAutoFit/>
          </a:bodyPr>
          <a:lstStyle/>
          <a:p>
            <a:pPr algn="ctr"/>
            <a:r>
              <a:rPr sz="1200" b="0">
                <a:solidFill>
                  <a:srgbClr val="FFFFFF"/>
                </a:solidFill>
                <a:latin typeface="Calibri"/>
              </a:rPr>
              <a:t>New focus</a:t>
            </a:r>
          </a:p>
        </p:txBody>
      </p:sp>
      <p:sp>
        <p:nvSpPr>
          <p:cNvPr id="18" name="Rounded Rectangle 17"/>
          <p:cNvSpPr/>
          <p:nvPr/>
        </p:nvSpPr>
        <p:spPr>
          <a:xfrm>
            <a:off x="2971800" y="2514600"/>
            <a:ext cx="8778240" cy="1051560"/>
          </a:xfrm>
          <a:prstGeom prst="roundRect">
            <a:avLst/>
          </a:prstGeom>
          <a:solidFill>
            <a:srgbClr val="FFFFFF"/>
          </a:solidFill>
          <a:ln w="12700">
            <a:solidFill>
              <a:srgbClr val="D5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00400" y="2743200"/>
            <a:ext cx="8412480" cy="640080"/>
          </a:xfrm>
          <a:prstGeom prst="rect">
            <a:avLst/>
          </a:prstGeom>
          <a:noFill/>
        </p:spPr>
        <p:txBody>
          <a:bodyPr wrap="square">
            <a:spAutoFit/>
          </a:bodyPr>
          <a:lstStyle/>
          <a:p>
            <a:pPr algn="l"/>
            <a:r>
              <a:rPr sz="1500" b="0">
                <a:solidFill>
                  <a:srgbClr val="1C2430"/>
                </a:solidFill>
                <a:latin typeface="Calibri"/>
              </a:rPr>
              <a:t>Four families: (A) FileCheck-style codegen snapshots, (B) pipeline-stage contracts, (C) static metric contracts, (D) host-compile kernels. No SIL by default.</a:t>
            </a:r>
          </a:p>
        </p:txBody>
      </p:sp>
      <p:sp>
        <p:nvSpPr>
          <p:cNvPr id="20" name="Rounded Rectangle 19"/>
          <p:cNvSpPr/>
          <p:nvPr/>
        </p:nvSpPr>
        <p:spPr>
          <a:xfrm>
            <a:off x="411480" y="3703320"/>
            <a:ext cx="2377440" cy="1051560"/>
          </a:xfrm>
          <a:prstGeom prst="roundRect">
            <a:avLst/>
          </a:prstGeom>
          <a:solidFill>
            <a:srgbClr val="0D7A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3931920"/>
            <a:ext cx="2194560" cy="365760"/>
          </a:xfrm>
          <a:prstGeom prst="rect">
            <a:avLst/>
          </a:prstGeom>
          <a:noFill/>
        </p:spPr>
        <p:txBody>
          <a:bodyPr wrap="square">
            <a:spAutoFit/>
          </a:bodyPr>
          <a:lstStyle/>
          <a:p>
            <a:pPr algn="ctr"/>
            <a:r>
              <a:rPr sz="1600" b="1">
                <a:solidFill>
                  <a:srgbClr val="FFFFFF"/>
                </a:solidFill>
                <a:latin typeface="Calibri"/>
              </a:rPr>
              <a:t>L3  System smoke</a:t>
            </a:r>
          </a:p>
        </p:txBody>
      </p:sp>
      <p:sp>
        <p:nvSpPr>
          <p:cNvPr id="22" name="TextBox 21"/>
          <p:cNvSpPr txBox="1"/>
          <p:nvPr/>
        </p:nvSpPr>
        <p:spPr>
          <a:xfrm>
            <a:off x="502920" y="4297680"/>
            <a:ext cx="2194560" cy="320040"/>
          </a:xfrm>
          <a:prstGeom prst="rect">
            <a:avLst/>
          </a:prstGeom>
          <a:noFill/>
        </p:spPr>
        <p:txBody>
          <a:bodyPr wrap="square">
            <a:spAutoFit/>
          </a:bodyPr>
          <a:lstStyle/>
          <a:p>
            <a:pPr algn="ctr"/>
            <a:r>
              <a:rPr sz="1200" b="0">
                <a:solidFill>
                  <a:srgbClr val="FFFFFF"/>
                </a:solidFill>
                <a:latin typeface="Calibri"/>
              </a:rPr>
              <a:t>Shrink &amp; curate</a:t>
            </a:r>
          </a:p>
        </p:txBody>
      </p:sp>
      <p:sp>
        <p:nvSpPr>
          <p:cNvPr id="23" name="Rounded Rectangle 22"/>
          <p:cNvSpPr/>
          <p:nvPr/>
        </p:nvSpPr>
        <p:spPr>
          <a:xfrm>
            <a:off x="2971800" y="3703320"/>
            <a:ext cx="8778240" cy="1051560"/>
          </a:xfrm>
          <a:prstGeom prst="roundRect">
            <a:avLst/>
          </a:prstGeom>
          <a:solidFill>
            <a:srgbClr val="FFFFFF"/>
          </a:solidFill>
          <a:ln w="12700">
            <a:solidFill>
              <a:srgbClr val="D5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00400" y="3931920"/>
            <a:ext cx="8412480" cy="640080"/>
          </a:xfrm>
          <a:prstGeom prst="rect">
            <a:avLst/>
          </a:prstGeom>
          <a:noFill/>
        </p:spPr>
        <p:txBody>
          <a:bodyPr wrap="square">
            <a:spAutoFit/>
          </a:bodyPr>
          <a:lstStyle/>
          <a:p>
            <a:pPr algn="l"/>
            <a:r>
              <a:rPr sz="1500" b="0">
                <a:solidFill>
                  <a:srgbClr val="1C2430"/>
                </a:solidFill>
                <a:latin typeface="Calibri"/>
              </a:rPr>
              <a:t>A small, stable SIL pack per optimization area. Must be diagnosable. Runs on merge / nightly, not every local save.</a:t>
            </a:r>
          </a:p>
        </p:txBody>
      </p:sp>
      <p:sp>
        <p:nvSpPr>
          <p:cNvPr id="25" name="Rounded Rectangle 24"/>
          <p:cNvSpPr/>
          <p:nvPr/>
        </p:nvSpPr>
        <p:spPr>
          <a:xfrm>
            <a:off x="411480" y="4892040"/>
            <a:ext cx="2377440" cy="1051560"/>
          </a:xfrm>
          <a:prstGeom prst="round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5120640"/>
            <a:ext cx="2194560" cy="365760"/>
          </a:xfrm>
          <a:prstGeom prst="rect">
            <a:avLst/>
          </a:prstGeom>
          <a:noFill/>
        </p:spPr>
        <p:txBody>
          <a:bodyPr wrap="square">
            <a:spAutoFit/>
          </a:bodyPr>
          <a:lstStyle/>
          <a:p>
            <a:pPr algn="ctr"/>
            <a:r>
              <a:rPr sz="1600" b="1">
                <a:solidFill>
                  <a:srgbClr val="FFFFFF"/>
                </a:solidFill>
                <a:latin typeface="Calibri"/>
              </a:rPr>
              <a:t>L4  System deep</a:t>
            </a:r>
          </a:p>
        </p:txBody>
      </p:sp>
      <p:sp>
        <p:nvSpPr>
          <p:cNvPr id="27" name="TextBox 26"/>
          <p:cNvSpPr txBox="1"/>
          <p:nvPr/>
        </p:nvSpPr>
        <p:spPr>
          <a:xfrm>
            <a:off x="502920" y="5486400"/>
            <a:ext cx="2194560" cy="320040"/>
          </a:xfrm>
          <a:prstGeom prst="rect">
            <a:avLst/>
          </a:prstGeom>
          <a:noFill/>
        </p:spPr>
        <p:txBody>
          <a:bodyPr wrap="square">
            <a:spAutoFit/>
          </a:bodyPr>
          <a:lstStyle/>
          <a:p>
            <a:pPr algn="ctr"/>
            <a:r>
              <a:rPr sz="1200" b="0">
                <a:solidFill>
                  <a:srgbClr val="FFFFFF"/>
                </a:solidFill>
                <a:latin typeface="Calibri"/>
              </a:rPr>
              <a:t>Keep, schedule</a:t>
            </a:r>
          </a:p>
        </p:txBody>
      </p:sp>
      <p:sp>
        <p:nvSpPr>
          <p:cNvPr id="28" name="Rounded Rectangle 27"/>
          <p:cNvSpPr/>
          <p:nvPr/>
        </p:nvSpPr>
        <p:spPr>
          <a:xfrm>
            <a:off x="2971800" y="4892040"/>
            <a:ext cx="8778240" cy="1051560"/>
          </a:xfrm>
          <a:prstGeom prst="roundRect">
            <a:avLst/>
          </a:prstGeom>
          <a:solidFill>
            <a:srgbClr val="FFFFFF"/>
          </a:solidFill>
          <a:ln w="12700">
            <a:solidFill>
              <a:srgbClr val="D5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00400" y="5120640"/>
            <a:ext cx="8412480" cy="640080"/>
          </a:xfrm>
          <a:prstGeom prst="rect">
            <a:avLst/>
          </a:prstGeom>
          <a:noFill/>
        </p:spPr>
        <p:txBody>
          <a:bodyPr wrap="square">
            <a:spAutoFit/>
          </a:bodyPr>
          <a:lstStyle/>
          <a:p>
            <a:pPr algn="l"/>
            <a:r>
              <a:rPr sz="1500" b="0">
                <a:solidFill>
                  <a:srgbClr val="1C2430"/>
                </a:solidFill>
                <a:latin typeface="Calibri"/>
              </a:rPr>
              <a:t>Broad models, PIL, profiling, migration vs last release. Nightly / weekly. Failures file bugs; they do not gate every CL.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73152"/>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10972800" cy="457200"/>
          </a:xfrm>
          <a:prstGeom prst="rect">
            <a:avLst/>
          </a:prstGeom>
          <a:noFill/>
        </p:spPr>
        <p:txBody>
          <a:bodyPr wrap="square">
            <a:spAutoFit/>
          </a:bodyPr>
          <a:lstStyle/>
          <a:p>
            <a:pPr algn="l"/>
            <a:r>
              <a:rPr sz="2800" b="1">
                <a:solidFill>
                  <a:srgbClr val="FFFFFF"/>
                </a:solidFill>
                <a:latin typeface="Calibri"/>
              </a:rPr>
              <a:t>Layer 2 in detail: four integration families</a:t>
            </a:r>
          </a:p>
        </p:txBody>
      </p:sp>
      <p:sp>
        <p:nvSpPr>
          <p:cNvPr id="5" name="TextBox 4"/>
          <p:cNvSpPr txBox="1"/>
          <p:nvPr/>
        </p:nvSpPr>
        <p:spPr>
          <a:xfrm>
            <a:off x="457200" y="621792"/>
            <a:ext cx="10972800" cy="320040"/>
          </a:xfrm>
          <a:prstGeom prst="rect">
            <a:avLst/>
          </a:prstGeom>
          <a:noFill/>
        </p:spPr>
        <p:txBody>
          <a:bodyPr wrap="square">
            <a:spAutoFit/>
          </a:bodyPr>
          <a:lstStyle/>
          <a:p>
            <a:pPr algn="l"/>
            <a:r>
              <a:rPr sz="1400" b="0">
                <a:solidFill>
                  <a:srgbClr val="C9D7E5"/>
                </a:solidFill>
                <a:latin typeface="Calibri"/>
              </a:rPr>
              <a:t>Start with A+C. Add B and D once the harness exists.</a:t>
            </a:r>
          </a:p>
        </p:txBody>
      </p:sp>
      <p:sp>
        <p:nvSpPr>
          <p:cNvPr id="6" name="Rectangle 5"/>
          <p:cNvSpPr/>
          <p:nvPr/>
        </p:nvSpPr>
        <p:spPr>
          <a:xfrm>
            <a:off x="0" y="6656832"/>
            <a:ext cx="12191695" cy="20116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647688"/>
            <a:ext cx="9144000" cy="201168"/>
          </a:xfrm>
          <a:prstGeom prst="rect">
            <a:avLst/>
          </a:prstGeom>
          <a:noFill/>
        </p:spPr>
        <p:txBody>
          <a:bodyPr wrap="square">
            <a:spAutoFit/>
          </a:bodyPr>
          <a:lstStyle/>
          <a:p>
            <a:pPr algn="l"/>
            <a:r>
              <a:rPr sz="1000" b="0">
                <a:solidFill>
                  <a:srgbClr val="FFFFFF"/>
                </a:solidFill>
                <a:latin typeface="Calibri"/>
              </a:rPr>
              <a:t>Embedded Coder  ·  Code Efficiency  ·  Integration Testing Proposal  ·  Internal</a:t>
            </a:r>
          </a:p>
        </p:txBody>
      </p:sp>
      <p:sp>
        <p:nvSpPr>
          <p:cNvPr id="8" name="TextBox 7"/>
          <p:cNvSpPr txBox="1"/>
          <p:nvPr/>
        </p:nvSpPr>
        <p:spPr>
          <a:xfrm>
            <a:off x="10607040" y="6647688"/>
            <a:ext cx="1280160" cy="201168"/>
          </a:xfrm>
          <a:prstGeom prst="rect">
            <a:avLst/>
          </a:prstGeom>
          <a:noFill/>
        </p:spPr>
        <p:txBody>
          <a:bodyPr wrap="square">
            <a:spAutoFit/>
          </a:bodyPr>
          <a:lstStyle/>
          <a:p>
            <a:pPr algn="r"/>
            <a:r>
              <a:rPr sz="1000" b="0">
                <a:solidFill>
                  <a:srgbClr val="FFFFFF"/>
                </a:solidFill>
                <a:latin typeface="Calibri"/>
              </a:rPr>
              <a:t>13  /  20</a:t>
            </a:r>
          </a:p>
        </p:txBody>
      </p:sp>
      <p:sp>
        <p:nvSpPr>
          <p:cNvPr id="9" name="Rectangle 8"/>
          <p:cNvSpPr/>
          <p:nvPr/>
        </p:nvSpPr>
        <p:spPr>
          <a:xfrm>
            <a:off x="0" y="1124712"/>
            <a:ext cx="12191695" cy="553212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65760" y="1371600"/>
            <a:ext cx="5715000" cy="2148840"/>
          </a:xfrm>
          <a:prstGeom prst="roundRect">
            <a:avLst/>
          </a:prstGeom>
          <a:solidFill>
            <a:srgbClr val="FFFFFF"/>
          </a:solidFill>
          <a:ln w="12700">
            <a:solidFill>
              <a:srgbClr val="D5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1371600"/>
            <a:ext cx="5715000" cy="45720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1463040"/>
            <a:ext cx="5303520" cy="320040"/>
          </a:xfrm>
          <a:prstGeom prst="rect">
            <a:avLst/>
          </a:prstGeom>
          <a:noFill/>
        </p:spPr>
        <p:txBody>
          <a:bodyPr wrap="square">
            <a:spAutoFit/>
          </a:bodyPr>
          <a:lstStyle/>
          <a:p>
            <a:pPr algn="l"/>
            <a:r>
              <a:rPr sz="1600" b="1">
                <a:solidFill>
                  <a:srgbClr val="FFFFFF"/>
                </a:solidFill>
                <a:latin typeface="Calibri"/>
              </a:rPr>
              <a:t>A. Snapshot / FileCheck</a:t>
            </a:r>
          </a:p>
        </p:txBody>
      </p:sp>
      <p:sp>
        <p:nvSpPr>
          <p:cNvPr id="13" name="TextBox 12"/>
          <p:cNvSpPr txBox="1"/>
          <p:nvPr/>
        </p:nvSpPr>
        <p:spPr>
          <a:xfrm>
            <a:off x="594360" y="2011680"/>
            <a:ext cx="5303520" cy="1371600"/>
          </a:xfrm>
          <a:prstGeom prst="rect">
            <a:avLst/>
          </a:prstGeom>
          <a:noFill/>
        </p:spPr>
        <p:txBody>
          <a:bodyPr wrap="square">
            <a:spAutoFit/>
          </a:bodyPr>
          <a:lstStyle/>
          <a:p>
            <a:pPr algn="l"/>
            <a:r>
              <a:rPr sz="1300" b="0">
                <a:solidFill>
                  <a:srgbClr val="1C2430"/>
                </a:solidFill>
                <a:latin typeface="Calibri"/>
              </a:rPr>
              <a:t>Tiny models or IR. Generate C (or dump IR). Match stable patterns: function signature, reuse of a buffer, absence of a memcpy, presence of a SIMD intrinsic, inlined callee gone. Auto-update golden with review, like LLVM update_*_test_checks.</a:t>
            </a:r>
          </a:p>
        </p:txBody>
      </p:sp>
      <p:sp>
        <p:nvSpPr>
          <p:cNvPr id="14" name="Rounded Rectangle 13"/>
          <p:cNvSpPr/>
          <p:nvPr/>
        </p:nvSpPr>
        <p:spPr>
          <a:xfrm>
            <a:off x="6263640" y="1371600"/>
            <a:ext cx="5715000" cy="2148840"/>
          </a:xfrm>
          <a:prstGeom prst="roundRect">
            <a:avLst/>
          </a:prstGeom>
          <a:solidFill>
            <a:srgbClr val="FFFFFF"/>
          </a:solidFill>
          <a:ln w="12700">
            <a:solidFill>
              <a:srgbClr val="D5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63640" y="1371600"/>
            <a:ext cx="5715000" cy="457200"/>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1463040"/>
            <a:ext cx="5303520" cy="320040"/>
          </a:xfrm>
          <a:prstGeom prst="rect">
            <a:avLst/>
          </a:prstGeom>
          <a:noFill/>
        </p:spPr>
        <p:txBody>
          <a:bodyPr wrap="square">
            <a:spAutoFit/>
          </a:bodyPr>
          <a:lstStyle/>
          <a:p>
            <a:pPr algn="l"/>
            <a:r>
              <a:rPr sz="1600" b="1">
                <a:solidFill>
                  <a:srgbClr val="FFFFFF"/>
                </a:solidFill>
                <a:latin typeface="Calibri"/>
              </a:rPr>
              <a:t>B. Pipeline contracts</a:t>
            </a:r>
          </a:p>
        </p:txBody>
      </p:sp>
      <p:sp>
        <p:nvSpPr>
          <p:cNvPr id="17" name="TextBox 16"/>
          <p:cNvSpPr txBox="1"/>
          <p:nvPr/>
        </p:nvSpPr>
        <p:spPr>
          <a:xfrm>
            <a:off x="6492240" y="2011680"/>
            <a:ext cx="5303520" cy="1371600"/>
          </a:xfrm>
          <a:prstGeom prst="rect">
            <a:avLst/>
          </a:prstGeom>
          <a:noFill/>
        </p:spPr>
        <p:txBody>
          <a:bodyPr wrap="square">
            <a:spAutoFit/>
          </a:bodyPr>
          <a:lstStyle/>
          <a:p>
            <a:pPr algn="l"/>
            <a:r>
              <a:rPr sz="1300" b="0">
                <a:solidFill>
                  <a:srgbClr val="1C2430"/>
                </a:solidFill>
                <a:latin typeface="Calibri"/>
              </a:rPr>
              <a:t>Assert stage handoff: model compile → IR → optimized IR → emit → compile. Example: after buffer-reuse pass, live ranges share storage; emitter does not reintroduce a temp. Failure names the pass, not “SIL mismatch.”</a:t>
            </a:r>
          </a:p>
        </p:txBody>
      </p:sp>
      <p:sp>
        <p:nvSpPr>
          <p:cNvPr id="18" name="Rounded Rectangle 17"/>
          <p:cNvSpPr/>
          <p:nvPr/>
        </p:nvSpPr>
        <p:spPr>
          <a:xfrm>
            <a:off x="365760" y="3703320"/>
            <a:ext cx="5715000" cy="2148840"/>
          </a:xfrm>
          <a:prstGeom prst="roundRect">
            <a:avLst/>
          </a:prstGeom>
          <a:solidFill>
            <a:srgbClr val="FFFFFF"/>
          </a:solidFill>
          <a:ln w="12700">
            <a:solidFill>
              <a:srgbClr val="D5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5760" y="3703320"/>
            <a:ext cx="5715000" cy="457200"/>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3794760"/>
            <a:ext cx="5303520" cy="320040"/>
          </a:xfrm>
          <a:prstGeom prst="rect">
            <a:avLst/>
          </a:prstGeom>
          <a:noFill/>
        </p:spPr>
        <p:txBody>
          <a:bodyPr wrap="square">
            <a:spAutoFit/>
          </a:bodyPr>
          <a:lstStyle/>
          <a:p>
            <a:pPr algn="l"/>
            <a:r>
              <a:rPr sz="1600" b="1">
                <a:solidFill>
                  <a:srgbClr val="FFFFFF"/>
                </a:solidFill>
                <a:latin typeface="Calibri"/>
              </a:rPr>
              <a:t>C. Metric contracts</a:t>
            </a:r>
          </a:p>
        </p:txBody>
      </p:sp>
      <p:sp>
        <p:nvSpPr>
          <p:cNvPr id="21" name="TextBox 20"/>
          <p:cNvSpPr txBox="1"/>
          <p:nvPr/>
        </p:nvSpPr>
        <p:spPr>
          <a:xfrm>
            <a:off x="594360" y="4343400"/>
            <a:ext cx="5303520" cy="1371600"/>
          </a:xfrm>
          <a:prstGeom prst="rect">
            <a:avLst/>
          </a:prstGeom>
          <a:noFill/>
        </p:spPr>
        <p:txBody>
          <a:bodyPr wrap="square">
            <a:spAutoFit/>
          </a:bodyPr>
          <a:lstStyle/>
          <a:p>
            <a:pPr algn="l"/>
            <a:r>
              <a:rPr sz="1300" b="0">
                <a:solidFill>
                  <a:srgbClr val="1C2430"/>
                </a:solidFill>
                <a:latin typeface="Calibri"/>
              </a:rPr>
              <a:t>Use our own static code metrics (the product already computes ROM/RAM/stack/lines/globals). Assert bounds or deltas vs a baseline fixture. Catches efficiency regressions without executing a step.</a:t>
            </a:r>
          </a:p>
        </p:txBody>
      </p:sp>
      <p:sp>
        <p:nvSpPr>
          <p:cNvPr id="22" name="Rounded Rectangle 21"/>
          <p:cNvSpPr/>
          <p:nvPr/>
        </p:nvSpPr>
        <p:spPr>
          <a:xfrm>
            <a:off x="6263640" y="3703320"/>
            <a:ext cx="5715000" cy="2148840"/>
          </a:xfrm>
          <a:prstGeom prst="roundRect">
            <a:avLst/>
          </a:prstGeom>
          <a:solidFill>
            <a:srgbClr val="FFFFFF"/>
          </a:solidFill>
          <a:ln w="12700">
            <a:solidFill>
              <a:srgbClr val="D5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63640" y="3703320"/>
            <a:ext cx="5715000" cy="457200"/>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0" y="3794760"/>
            <a:ext cx="5303520" cy="320040"/>
          </a:xfrm>
          <a:prstGeom prst="rect">
            <a:avLst/>
          </a:prstGeom>
          <a:noFill/>
        </p:spPr>
        <p:txBody>
          <a:bodyPr wrap="square">
            <a:spAutoFit/>
          </a:bodyPr>
          <a:lstStyle/>
          <a:p>
            <a:pPr algn="l"/>
            <a:r>
              <a:rPr sz="1600" b="1">
                <a:solidFill>
                  <a:srgbClr val="FFFFFF"/>
                </a:solidFill>
                <a:latin typeface="Calibri"/>
              </a:rPr>
              <a:t>D. Kernel compile+run</a:t>
            </a:r>
          </a:p>
        </p:txBody>
      </p:sp>
      <p:sp>
        <p:nvSpPr>
          <p:cNvPr id="25" name="TextBox 24"/>
          <p:cNvSpPr txBox="1"/>
          <p:nvPr/>
        </p:nvSpPr>
        <p:spPr>
          <a:xfrm>
            <a:off x="6492240" y="4343400"/>
            <a:ext cx="5303520" cy="1371600"/>
          </a:xfrm>
          <a:prstGeom prst="rect">
            <a:avLst/>
          </a:prstGeom>
          <a:noFill/>
        </p:spPr>
        <p:txBody>
          <a:bodyPr wrap="square">
            <a:spAutoFit/>
          </a:bodyPr>
          <a:lstStyle/>
          <a:p>
            <a:pPr algn="l"/>
            <a:r>
              <a:rPr sz="1300" b="0">
                <a:solidFill>
                  <a:srgbClr val="1C2430"/>
                </a:solidFill>
                <a:latin typeface="Calibri"/>
              </a:rPr>
              <a:t>For a handful of hot loops: generate, compile on host, run a tiny driver with known I/O. Cheaper than SIL Manager + SDI compare; still catches semantic breaks in the optimizer. Closest to LLVM kernels / TI in-house kernels.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73152"/>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10972800" cy="457200"/>
          </a:xfrm>
          <a:prstGeom prst="rect">
            <a:avLst/>
          </a:prstGeom>
          <a:noFill/>
        </p:spPr>
        <p:txBody>
          <a:bodyPr wrap="square">
            <a:spAutoFit/>
          </a:bodyPr>
          <a:lstStyle/>
          <a:p>
            <a:pPr algn="l"/>
            <a:r>
              <a:rPr sz="2800" b="1">
                <a:solidFill>
                  <a:srgbClr val="FFFFFF"/>
                </a:solidFill>
                <a:latin typeface="Calibri"/>
              </a:rPr>
              <a:t>Worked example: buffer reuse change</a:t>
            </a:r>
          </a:p>
        </p:txBody>
      </p:sp>
      <p:sp>
        <p:nvSpPr>
          <p:cNvPr id="5" name="TextBox 4"/>
          <p:cNvSpPr txBox="1"/>
          <p:nvPr/>
        </p:nvSpPr>
        <p:spPr>
          <a:xfrm>
            <a:off x="457200" y="621792"/>
            <a:ext cx="10972800" cy="320040"/>
          </a:xfrm>
          <a:prstGeom prst="rect">
            <a:avLst/>
          </a:prstGeom>
          <a:noFill/>
        </p:spPr>
        <p:txBody>
          <a:bodyPr wrap="square">
            <a:spAutoFit/>
          </a:bodyPr>
          <a:lstStyle/>
          <a:p>
            <a:pPr algn="l"/>
            <a:r>
              <a:rPr sz="1400" b="0">
                <a:solidFill>
                  <a:srgbClr val="C9D7E5"/>
                </a:solidFill>
                <a:latin typeface="Calibri"/>
              </a:rPr>
              <a:t>Same feature, three test designs — only one belongs in SIL</a:t>
            </a:r>
          </a:p>
        </p:txBody>
      </p:sp>
      <p:sp>
        <p:nvSpPr>
          <p:cNvPr id="6" name="Rectangle 5"/>
          <p:cNvSpPr/>
          <p:nvPr/>
        </p:nvSpPr>
        <p:spPr>
          <a:xfrm>
            <a:off x="0" y="6656832"/>
            <a:ext cx="12191695" cy="20116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647688"/>
            <a:ext cx="9144000" cy="201168"/>
          </a:xfrm>
          <a:prstGeom prst="rect">
            <a:avLst/>
          </a:prstGeom>
          <a:noFill/>
        </p:spPr>
        <p:txBody>
          <a:bodyPr wrap="square">
            <a:spAutoFit/>
          </a:bodyPr>
          <a:lstStyle/>
          <a:p>
            <a:pPr algn="l"/>
            <a:r>
              <a:rPr sz="1000" b="0">
                <a:solidFill>
                  <a:srgbClr val="FFFFFF"/>
                </a:solidFill>
                <a:latin typeface="Calibri"/>
              </a:rPr>
              <a:t>Embedded Coder  ·  Code Efficiency  ·  Integration Testing Proposal  ·  Internal</a:t>
            </a:r>
          </a:p>
        </p:txBody>
      </p:sp>
      <p:sp>
        <p:nvSpPr>
          <p:cNvPr id="8" name="TextBox 7"/>
          <p:cNvSpPr txBox="1"/>
          <p:nvPr/>
        </p:nvSpPr>
        <p:spPr>
          <a:xfrm>
            <a:off x="10607040" y="6647688"/>
            <a:ext cx="1280160" cy="201168"/>
          </a:xfrm>
          <a:prstGeom prst="rect">
            <a:avLst/>
          </a:prstGeom>
          <a:noFill/>
        </p:spPr>
        <p:txBody>
          <a:bodyPr wrap="square">
            <a:spAutoFit/>
          </a:bodyPr>
          <a:lstStyle/>
          <a:p>
            <a:pPr algn="r"/>
            <a:r>
              <a:rPr sz="1000" b="0">
                <a:solidFill>
                  <a:srgbClr val="FFFFFF"/>
                </a:solidFill>
                <a:latin typeface="Calibri"/>
              </a:rPr>
              <a:t>14  /  20</a:t>
            </a:r>
          </a:p>
        </p:txBody>
      </p:sp>
      <p:sp>
        <p:nvSpPr>
          <p:cNvPr id="9" name="Rectangle 8"/>
          <p:cNvSpPr/>
          <p:nvPr/>
        </p:nvSpPr>
        <p:spPr>
          <a:xfrm>
            <a:off x="0" y="1124712"/>
            <a:ext cx="12191695" cy="553212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11480" y="1371600"/>
            <a:ext cx="11338560" cy="1280160"/>
          </a:xfrm>
          <a:prstGeom prst="roundRect">
            <a:avLst/>
          </a:prstGeom>
          <a:solidFill>
            <a:srgbClr val="FFFFFF"/>
          </a:solidFill>
          <a:ln w="12700">
            <a:solidFill>
              <a:srgbClr val="D5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10972800" cy="320040"/>
          </a:xfrm>
          <a:prstGeom prst="rect">
            <a:avLst/>
          </a:prstGeom>
          <a:noFill/>
        </p:spPr>
        <p:txBody>
          <a:bodyPr wrap="square">
            <a:spAutoFit/>
          </a:bodyPr>
          <a:lstStyle/>
          <a:p>
            <a:pPr algn="l"/>
            <a:r>
              <a:rPr sz="1800" b="1">
                <a:solidFill>
                  <a:srgbClr val="0B2C4A"/>
                </a:solidFill>
                <a:latin typeface="Calibri"/>
              </a:rPr>
              <a:t>Unit (minutes to write, ms to run)</a:t>
            </a:r>
          </a:p>
        </p:txBody>
      </p:sp>
      <p:sp>
        <p:nvSpPr>
          <p:cNvPr id="12" name="TextBox 11"/>
          <p:cNvSpPr txBox="1"/>
          <p:nvPr/>
        </p:nvSpPr>
        <p:spPr>
          <a:xfrm>
            <a:off x="640080" y="1874520"/>
            <a:ext cx="10972800" cy="640080"/>
          </a:xfrm>
          <a:prstGeom prst="rect">
            <a:avLst/>
          </a:prstGeom>
          <a:noFill/>
        </p:spPr>
        <p:txBody>
          <a:bodyPr wrap="square">
            <a:spAutoFit/>
          </a:bodyPr>
          <a:lstStyle/>
          <a:p>
            <a:pPr algn="l"/>
            <a:r>
              <a:rPr sz="1500" b="0">
                <a:solidFill>
                  <a:srgbClr val="5B6775"/>
                </a:solidFill>
                <a:latin typeface="Calibri"/>
              </a:rPr>
              <a:t>Given two live ranges that do not overlap, allocator assigns the same storage. Table-driven cases for sizes, dimensions, Reusable storage class, Model-block outputs.</a:t>
            </a:r>
          </a:p>
        </p:txBody>
      </p:sp>
      <p:sp>
        <p:nvSpPr>
          <p:cNvPr id="13" name="Rounded Rectangle 12"/>
          <p:cNvSpPr/>
          <p:nvPr/>
        </p:nvSpPr>
        <p:spPr>
          <a:xfrm>
            <a:off x="411480" y="2788920"/>
            <a:ext cx="11338560" cy="1280160"/>
          </a:xfrm>
          <a:prstGeom prst="roundRect">
            <a:avLst/>
          </a:prstGeom>
          <a:solidFill>
            <a:srgbClr val="FFFFFF"/>
          </a:solidFill>
          <a:ln w="12700">
            <a:solidFill>
              <a:srgbClr val="D5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926080"/>
            <a:ext cx="10972800" cy="320040"/>
          </a:xfrm>
          <a:prstGeom prst="rect">
            <a:avLst/>
          </a:prstGeom>
          <a:noFill/>
        </p:spPr>
        <p:txBody>
          <a:bodyPr wrap="square">
            <a:spAutoFit/>
          </a:bodyPr>
          <a:lstStyle/>
          <a:p>
            <a:pPr algn="l"/>
            <a:r>
              <a:rPr sz="1800" b="1">
                <a:solidFill>
                  <a:srgbClr val="0B2C4A"/>
                </a:solidFill>
                <a:latin typeface="Calibri"/>
              </a:rPr>
              <a:t>Integration A+C (seconds)</a:t>
            </a:r>
          </a:p>
        </p:txBody>
      </p:sp>
      <p:sp>
        <p:nvSpPr>
          <p:cNvPr id="15" name="TextBox 14"/>
          <p:cNvSpPr txBox="1"/>
          <p:nvPr/>
        </p:nvSpPr>
        <p:spPr>
          <a:xfrm>
            <a:off x="640080" y="3291840"/>
            <a:ext cx="10972800" cy="640080"/>
          </a:xfrm>
          <a:prstGeom prst="rect">
            <a:avLst/>
          </a:prstGeom>
          <a:noFill/>
        </p:spPr>
        <p:txBody>
          <a:bodyPr wrap="square">
            <a:spAutoFit/>
          </a:bodyPr>
          <a:lstStyle/>
          <a:p>
            <a:pPr algn="l"/>
            <a:r>
              <a:rPr sz="1500" b="0">
                <a:solidFill>
                  <a:srgbClr val="5B6775"/>
                </a:solidFill>
                <a:latin typeface="Calibri"/>
              </a:rPr>
              <a:t>3-block fixture model. Generate. CHECK: one local for the path, no extra memcpy. Metric: RAM globals ≤ baseline, stack of step() ≤ bound. Compile the C. Stop.</a:t>
            </a:r>
          </a:p>
        </p:txBody>
      </p:sp>
      <p:sp>
        <p:nvSpPr>
          <p:cNvPr id="16" name="Rounded Rectangle 15"/>
          <p:cNvSpPr/>
          <p:nvPr/>
        </p:nvSpPr>
        <p:spPr>
          <a:xfrm>
            <a:off x="411480" y="4206240"/>
            <a:ext cx="11338560" cy="1280160"/>
          </a:xfrm>
          <a:prstGeom prst="roundRect">
            <a:avLst/>
          </a:prstGeom>
          <a:solidFill>
            <a:srgbClr val="FFFFFF"/>
          </a:solidFill>
          <a:ln w="12700">
            <a:solidFill>
              <a:srgbClr val="D5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4343400"/>
            <a:ext cx="10972800" cy="320040"/>
          </a:xfrm>
          <a:prstGeom prst="rect">
            <a:avLst/>
          </a:prstGeom>
          <a:noFill/>
        </p:spPr>
        <p:txBody>
          <a:bodyPr wrap="square">
            <a:spAutoFit/>
          </a:bodyPr>
          <a:lstStyle/>
          <a:p>
            <a:pPr algn="l"/>
            <a:r>
              <a:rPr sz="1800" b="1">
                <a:solidFill>
                  <a:srgbClr val="0B2C4A"/>
                </a:solidFill>
                <a:latin typeface="Calibri"/>
              </a:rPr>
              <a:t>System SIL (keep 1–2)</a:t>
            </a:r>
          </a:p>
        </p:txBody>
      </p:sp>
      <p:sp>
        <p:nvSpPr>
          <p:cNvPr id="18" name="TextBox 17"/>
          <p:cNvSpPr txBox="1"/>
          <p:nvPr/>
        </p:nvSpPr>
        <p:spPr>
          <a:xfrm>
            <a:off x="640080" y="4709160"/>
            <a:ext cx="10972800" cy="640080"/>
          </a:xfrm>
          <a:prstGeom prst="rect">
            <a:avLst/>
          </a:prstGeom>
          <a:noFill/>
        </p:spPr>
        <p:txBody>
          <a:bodyPr wrap="square">
            <a:spAutoFit/>
          </a:bodyPr>
          <a:lstStyle/>
          <a:p>
            <a:pPr algn="l"/>
            <a:r>
              <a:rPr sz="1500" b="0">
                <a:solidFill>
                  <a:srgbClr val="5B6775"/>
                </a:solidFill>
                <a:latin typeface="Calibri"/>
              </a:rPr>
              <a:t>One representative referenced-model model, Normal vs SIL equivalence, plus static metrics trend. Proves we did not break numerics or the customer workflow. Not 40 permutations of the same reuse rule.</a:t>
            </a:r>
          </a:p>
        </p:txBody>
      </p:sp>
      <p:sp>
        <p:nvSpPr>
          <p:cNvPr id="19" name="TextBox 18"/>
          <p:cNvSpPr txBox="1"/>
          <p:nvPr/>
        </p:nvSpPr>
        <p:spPr>
          <a:xfrm>
            <a:off x="457200" y="5715000"/>
            <a:ext cx="11247120" cy="640080"/>
          </a:xfrm>
          <a:prstGeom prst="rect">
            <a:avLst/>
          </a:prstGeom>
          <a:noFill/>
        </p:spPr>
        <p:txBody>
          <a:bodyPr wrap="square">
            <a:spAutoFit/>
          </a:bodyPr>
          <a:lstStyle/>
          <a:p>
            <a:pPr algn="l"/>
            <a:r>
              <a:rPr sz="1500" b="0">
                <a:solidFill>
                  <a:srgbClr val="1C2430"/>
                </a:solidFill>
                <a:latin typeface="Calibri"/>
              </a:rPr>
              <a:t>Rule of thumb for QE reviews: if the expected failure message cannot name the pass or the metric, the test is too big.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73152"/>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10972800" cy="457200"/>
          </a:xfrm>
          <a:prstGeom prst="rect">
            <a:avLst/>
          </a:prstGeom>
          <a:noFill/>
        </p:spPr>
        <p:txBody>
          <a:bodyPr wrap="square">
            <a:spAutoFit/>
          </a:bodyPr>
          <a:lstStyle/>
          <a:p>
            <a:pPr algn="l"/>
            <a:r>
              <a:rPr sz="2800" b="1">
                <a:solidFill>
                  <a:srgbClr val="FFFFFF"/>
                </a:solidFill>
                <a:latin typeface="Calibri"/>
              </a:rPr>
              <a:t>When tests run (industry CI policy, applied here)</a:t>
            </a:r>
          </a:p>
        </p:txBody>
      </p:sp>
      <p:sp>
        <p:nvSpPr>
          <p:cNvPr id="5" name="TextBox 4"/>
          <p:cNvSpPr txBox="1"/>
          <p:nvPr/>
        </p:nvSpPr>
        <p:spPr>
          <a:xfrm>
            <a:off x="457200" y="621792"/>
            <a:ext cx="10972800" cy="320040"/>
          </a:xfrm>
          <a:prstGeom prst="rect">
            <a:avLst/>
          </a:prstGeom>
          <a:noFill/>
        </p:spPr>
        <p:txBody>
          <a:bodyPr wrap="square">
            <a:spAutoFit/>
          </a:bodyPr>
          <a:lstStyle/>
          <a:p>
            <a:pPr algn="l"/>
            <a:r>
              <a:rPr sz="1400" b="0">
                <a:solidFill>
                  <a:srgbClr val="C9D7E5"/>
                </a:solidFill>
                <a:latin typeface="Calibri"/>
              </a:rPr>
              <a:t>Speed of the suite is a product requirement, not a luxury</a:t>
            </a:r>
          </a:p>
        </p:txBody>
      </p:sp>
      <p:sp>
        <p:nvSpPr>
          <p:cNvPr id="6" name="Rectangle 5"/>
          <p:cNvSpPr/>
          <p:nvPr/>
        </p:nvSpPr>
        <p:spPr>
          <a:xfrm>
            <a:off x="0" y="6656832"/>
            <a:ext cx="12191695" cy="20116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647688"/>
            <a:ext cx="9144000" cy="201168"/>
          </a:xfrm>
          <a:prstGeom prst="rect">
            <a:avLst/>
          </a:prstGeom>
          <a:noFill/>
        </p:spPr>
        <p:txBody>
          <a:bodyPr wrap="square">
            <a:spAutoFit/>
          </a:bodyPr>
          <a:lstStyle/>
          <a:p>
            <a:pPr algn="l"/>
            <a:r>
              <a:rPr sz="1000" b="0">
                <a:solidFill>
                  <a:srgbClr val="FFFFFF"/>
                </a:solidFill>
                <a:latin typeface="Calibri"/>
              </a:rPr>
              <a:t>Embedded Coder  ·  Code Efficiency  ·  Integration Testing Proposal  ·  Internal</a:t>
            </a:r>
          </a:p>
        </p:txBody>
      </p:sp>
      <p:sp>
        <p:nvSpPr>
          <p:cNvPr id="8" name="TextBox 7"/>
          <p:cNvSpPr txBox="1"/>
          <p:nvPr/>
        </p:nvSpPr>
        <p:spPr>
          <a:xfrm>
            <a:off x="10607040" y="6647688"/>
            <a:ext cx="1280160" cy="201168"/>
          </a:xfrm>
          <a:prstGeom prst="rect">
            <a:avLst/>
          </a:prstGeom>
          <a:noFill/>
        </p:spPr>
        <p:txBody>
          <a:bodyPr wrap="square">
            <a:spAutoFit/>
          </a:bodyPr>
          <a:lstStyle/>
          <a:p>
            <a:pPr algn="r"/>
            <a:r>
              <a:rPr sz="1000" b="0">
                <a:solidFill>
                  <a:srgbClr val="FFFFFF"/>
                </a:solidFill>
                <a:latin typeface="Calibri"/>
              </a:rPr>
              <a:t>15  /  20</a:t>
            </a:r>
          </a:p>
        </p:txBody>
      </p:sp>
      <p:sp>
        <p:nvSpPr>
          <p:cNvPr id="9" name="Rectangle 8"/>
          <p:cNvSpPr/>
          <p:nvPr/>
        </p:nvSpPr>
        <p:spPr>
          <a:xfrm>
            <a:off x="0" y="1124712"/>
            <a:ext cx="12191695" cy="553212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65760" y="1417320"/>
            <a:ext cx="2788920" cy="3017520"/>
          </a:xfrm>
          <a:prstGeom prst="roundRect">
            <a:avLst/>
          </a:prstGeom>
          <a:solidFill>
            <a:srgbClr val="FFFFFF"/>
          </a:solidFill>
          <a:ln w="12700">
            <a:solidFill>
              <a:srgbClr val="D5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1417320"/>
            <a:ext cx="278892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1691640"/>
            <a:ext cx="2514600" cy="731520"/>
          </a:xfrm>
          <a:prstGeom prst="rect">
            <a:avLst/>
          </a:prstGeom>
          <a:noFill/>
        </p:spPr>
        <p:txBody>
          <a:bodyPr wrap="square">
            <a:spAutoFit/>
          </a:bodyPr>
          <a:lstStyle/>
          <a:p>
            <a:pPr algn="l"/>
            <a:r>
              <a:rPr sz="1600" b="1">
                <a:solidFill>
                  <a:srgbClr val="0B2C4A"/>
                </a:solidFill>
                <a:latin typeface="Calibri"/>
              </a:rPr>
              <a:t>Local / presubmit</a:t>
            </a:r>
          </a:p>
        </p:txBody>
      </p:sp>
      <p:sp>
        <p:nvSpPr>
          <p:cNvPr id="13" name="TextBox 12"/>
          <p:cNvSpPr txBox="1"/>
          <p:nvPr/>
        </p:nvSpPr>
        <p:spPr>
          <a:xfrm>
            <a:off x="502920" y="2468880"/>
            <a:ext cx="2514600" cy="1737360"/>
          </a:xfrm>
          <a:prstGeom prst="rect">
            <a:avLst/>
          </a:prstGeom>
          <a:noFill/>
        </p:spPr>
        <p:txBody>
          <a:bodyPr wrap="square">
            <a:spAutoFit/>
          </a:bodyPr>
          <a:lstStyle/>
          <a:p>
            <a:pPr algn="l"/>
            <a:r>
              <a:rPr sz="1300" b="0">
                <a:solidFill>
                  <a:srgbClr val="5B6775"/>
                </a:solidFill>
                <a:latin typeface="Calibri"/>
              </a:rPr>
              <a:t>L1 + affected L2 (A/C) for the optimization area. Target: minutes, hermetic, no SIL.</a:t>
            </a:r>
          </a:p>
        </p:txBody>
      </p:sp>
      <p:sp>
        <p:nvSpPr>
          <p:cNvPr id="14" name="Rounded Rectangle 13"/>
          <p:cNvSpPr/>
          <p:nvPr/>
        </p:nvSpPr>
        <p:spPr>
          <a:xfrm>
            <a:off x="3291840" y="1417320"/>
            <a:ext cx="2788920" cy="3017520"/>
          </a:xfrm>
          <a:prstGeom prst="roundRect">
            <a:avLst/>
          </a:prstGeom>
          <a:solidFill>
            <a:srgbClr val="FFFFFF"/>
          </a:solidFill>
          <a:ln w="12700">
            <a:solidFill>
              <a:srgbClr val="D5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91840" y="1417320"/>
            <a:ext cx="278892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29000" y="1691640"/>
            <a:ext cx="2514600" cy="731520"/>
          </a:xfrm>
          <a:prstGeom prst="rect">
            <a:avLst/>
          </a:prstGeom>
          <a:noFill/>
        </p:spPr>
        <p:txBody>
          <a:bodyPr wrap="square">
            <a:spAutoFit/>
          </a:bodyPr>
          <a:lstStyle/>
          <a:p>
            <a:pPr algn="l"/>
            <a:r>
              <a:rPr sz="1600" b="1">
                <a:solidFill>
                  <a:srgbClr val="0B2C4A"/>
                </a:solidFill>
                <a:latin typeface="Calibri"/>
              </a:rPr>
              <a:t>Merge / gated CI</a:t>
            </a:r>
          </a:p>
        </p:txBody>
      </p:sp>
      <p:sp>
        <p:nvSpPr>
          <p:cNvPr id="17" name="TextBox 16"/>
          <p:cNvSpPr txBox="1"/>
          <p:nvPr/>
        </p:nvSpPr>
        <p:spPr>
          <a:xfrm>
            <a:off x="3429000" y="2468880"/>
            <a:ext cx="2514600" cy="1737360"/>
          </a:xfrm>
          <a:prstGeom prst="rect">
            <a:avLst/>
          </a:prstGeom>
          <a:noFill/>
        </p:spPr>
        <p:txBody>
          <a:bodyPr wrap="square">
            <a:spAutoFit/>
          </a:bodyPr>
          <a:lstStyle/>
          <a:p>
            <a:pPr algn="l"/>
            <a:r>
              <a:rPr sz="1300" b="0">
                <a:solidFill>
                  <a:srgbClr val="5B6775"/>
                </a:solidFill>
                <a:latin typeface="Calibri"/>
              </a:rPr>
              <a:t>Full L2 for the component + a tiny L3 smoke (few SIL). Fail the merge.</a:t>
            </a:r>
          </a:p>
        </p:txBody>
      </p:sp>
      <p:sp>
        <p:nvSpPr>
          <p:cNvPr id="18" name="Rounded Rectangle 17"/>
          <p:cNvSpPr/>
          <p:nvPr/>
        </p:nvSpPr>
        <p:spPr>
          <a:xfrm>
            <a:off x="6217920" y="1417320"/>
            <a:ext cx="2788920" cy="3017520"/>
          </a:xfrm>
          <a:prstGeom prst="roundRect">
            <a:avLst/>
          </a:prstGeom>
          <a:solidFill>
            <a:srgbClr val="FFFFFF"/>
          </a:solidFill>
          <a:ln w="12700">
            <a:solidFill>
              <a:srgbClr val="D5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1417320"/>
            <a:ext cx="278892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1691640"/>
            <a:ext cx="2514600" cy="731520"/>
          </a:xfrm>
          <a:prstGeom prst="rect">
            <a:avLst/>
          </a:prstGeom>
          <a:noFill/>
        </p:spPr>
        <p:txBody>
          <a:bodyPr wrap="square">
            <a:spAutoFit/>
          </a:bodyPr>
          <a:lstStyle/>
          <a:p>
            <a:pPr algn="l"/>
            <a:r>
              <a:rPr sz="1600" b="1">
                <a:solidFill>
                  <a:srgbClr val="0B2C4A"/>
                </a:solidFill>
                <a:latin typeface="Calibri"/>
              </a:rPr>
              <a:t>Nightly</a:t>
            </a:r>
          </a:p>
        </p:txBody>
      </p:sp>
      <p:sp>
        <p:nvSpPr>
          <p:cNvPr id="21" name="TextBox 20"/>
          <p:cNvSpPr txBox="1"/>
          <p:nvPr/>
        </p:nvSpPr>
        <p:spPr>
          <a:xfrm>
            <a:off x="6355080" y="2468880"/>
            <a:ext cx="2514600" cy="1737360"/>
          </a:xfrm>
          <a:prstGeom prst="rect">
            <a:avLst/>
          </a:prstGeom>
          <a:noFill/>
        </p:spPr>
        <p:txBody>
          <a:bodyPr wrap="square">
            <a:spAutoFit/>
          </a:bodyPr>
          <a:lstStyle/>
          <a:p>
            <a:pPr algn="l"/>
            <a:r>
              <a:rPr sz="1300" b="0">
                <a:solidFill>
                  <a:srgbClr val="5B6775"/>
                </a:solidFill>
                <a:latin typeface="Calibri"/>
              </a:rPr>
              <a:t>L3 remaining + L4 models, profiling on a fixed set, last-release migration on a fixture pack.</a:t>
            </a:r>
          </a:p>
        </p:txBody>
      </p:sp>
      <p:sp>
        <p:nvSpPr>
          <p:cNvPr id="22" name="Rounded Rectangle 21"/>
          <p:cNvSpPr/>
          <p:nvPr/>
        </p:nvSpPr>
        <p:spPr>
          <a:xfrm>
            <a:off x="9144000" y="1417320"/>
            <a:ext cx="2788920" cy="3017520"/>
          </a:xfrm>
          <a:prstGeom prst="roundRect">
            <a:avLst/>
          </a:prstGeom>
          <a:solidFill>
            <a:srgbClr val="FFFFFF"/>
          </a:solidFill>
          <a:ln w="12700">
            <a:solidFill>
              <a:srgbClr val="D5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144000" y="1417320"/>
            <a:ext cx="278892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81160" y="1691640"/>
            <a:ext cx="2514600" cy="731520"/>
          </a:xfrm>
          <a:prstGeom prst="rect">
            <a:avLst/>
          </a:prstGeom>
          <a:noFill/>
        </p:spPr>
        <p:txBody>
          <a:bodyPr wrap="square">
            <a:spAutoFit/>
          </a:bodyPr>
          <a:lstStyle/>
          <a:p>
            <a:pPr algn="l"/>
            <a:r>
              <a:rPr sz="1600" b="1">
                <a:solidFill>
                  <a:srgbClr val="0B2C4A"/>
                </a:solidFill>
                <a:latin typeface="Calibri"/>
              </a:rPr>
              <a:t>Milestone / release</a:t>
            </a:r>
          </a:p>
        </p:txBody>
      </p:sp>
      <p:sp>
        <p:nvSpPr>
          <p:cNvPr id="25" name="TextBox 24"/>
          <p:cNvSpPr txBox="1"/>
          <p:nvPr/>
        </p:nvSpPr>
        <p:spPr>
          <a:xfrm>
            <a:off x="9281160" y="2468880"/>
            <a:ext cx="2514600" cy="1737360"/>
          </a:xfrm>
          <a:prstGeom prst="rect">
            <a:avLst/>
          </a:prstGeom>
          <a:noFill/>
        </p:spPr>
        <p:txBody>
          <a:bodyPr wrap="square">
            <a:spAutoFit/>
          </a:bodyPr>
          <a:lstStyle/>
          <a:p>
            <a:pPr algn="l"/>
            <a:r>
              <a:rPr sz="1300" b="0">
                <a:solidFill>
                  <a:srgbClr val="5B6775"/>
                </a:solidFill>
                <a:latin typeface="Calibri"/>
              </a:rPr>
              <a:t>Broader targets, PIL sample, qualification evidence if needed.</a:t>
            </a:r>
          </a:p>
        </p:txBody>
      </p:sp>
      <p:sp>
        <p:nvSpPr>
          <p:cNvPr id="26" name="Rounded Rectangle 25"/>
          <p:cNvSpPr/>
          <p:nvPr/>
        </p:nvSpPr>
        <p:spPr>
          <a:xfrm>
            <a:off x="365760" y="4617720"/>
            <a:ext cx="11430000" cy="1737360"/>
          </a:xfrm>
          <a:prstGeom prst="roundRect">
            <a:avLst/>
          </a:prstGeom>
          <a:solidFill>
            <a:srgbClr val="FFFFFF"/>
          </a:solidFill>
          <a:ln w="12700">
            <a:solidFill>
              <a:srgbClr val="D5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4360" y="4754880"/>
            <a:ext cx="10972800" cy="320040"/>
          </a:xfrm>
          <a:prstGeom prst="rect">
            <a:avLst/>
          </a:prstGeom>
          <a:noFill/>
        </p:spPr>
        <p:txBody>
          <a:bodyPr wrap="square">
            <a:spAutoFit/>
          </a:bodyPr>
          <a:lstStyle/>
          <a:p>
            <a:pPr algn="l"/>
            <a:r>
              <a:rPr sz="1600" b="1">
                <a:solidFill>
                  <a:srgbClr val="0B2C4A"/>
                </a:solidFill>
                <a:latin typeface="Calibri"/>
              </a:rPr>
              <a:t>Selection, not “run everything”</a:t>
            </a:r>
          </a:p>
        </p:txBody>
      </p:sp>
      <p:sp>
        <p:nvSpPr>
          <p:cNvPr id="28" name="TextBox 27"/>
          <p:cNvSpPr txBox="1"/>
          <p:nvPr/>
        </p:nvSpPr>
        <p:spPr>
          <a:xfrm>
            <a:off x="594360" y="5120640"/>
            <a:ext cx="10972800" cy="1051560"/>
          </a:xfrm>
          <a:prstGeom prst="rect">
            <a:avLst/>
          </a:prstGeom>
          <a:noFill/>
        </p:spPr>
        <p:txBody>
          <a:bodyPr wrap="square">
            <a:spAutoFit/>
          </a:bodyPr>
          <a:lstStyle/>
          <a:p>
            <a:pPr algn="l"/>
            <a:r>
              <a:rPr sz="1400" b="0">
                <a:solidFill>
                  <a:srgbClr val="1C2430"/>
                </a:solidFill>
                <a:latin typeface="Calibri"/>
              </a:rPr>
              <a:t>Google TAP lesson: test volume × commit rate will not scale if every test is large. Use area ownership (tests live next to the pass), and impacted-test selection where the build system allows. A change in buffer reuse should not wait on SIMD SIL. Flaky L3/L4 tests are disabled aggressively — a red nightly with no owner is not a quality process.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73152"/>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10972800" cy="457200"/>
          </a:xfrm>
          <a:prstGeom prst="rect">
            <a:avLst/>
          </a:prstGeom>
          <a:noFill/>
        </p:spPr>
        <p:txBody>
          <a:bodyPr wrap="square">
            <a:spAutoFit/>
          </a:bodyPr>
          <a:lstStyle/>
          <a:p>
            <a:pPr algn="l"/>
            <a:r>
              <a:rPr sz="2800" b="1">
                <a:solidFill>
                  <a:srgbClr val="FFFFFF"/>
                </a:solidFill>
                <a:latin typeface="Calibri"/>
              </a:rPr>
              <a:t>Pilot plan (QE-led, Dev-paired)</a:t>
            </a:r>
          </a:p>
        </p:txBody>
      </p:sp>
      <p:sp>
        <p:nvSpPr>
          <p:cNvPr id="5" name="TextBox 4"/>
          <p:cNvSpPr txBox="1"/>
          <p:nvPr/>
        </p:nvSpPr>
        <p:spPr>
          <a:xfrm>
            <a:off x="457200" y="621792"/>
            <a:ext cx="10972800" cy="320040"/>
          </a:xfrm>
          <a:prstGeom prst="rect">
            <a:avLst/>
          </a:prstGeom>
          <a:noFill/>
        </p:spPr>
        <p:txBody>
          <a:bodyPr wrap="square">
            <a:spAutoFit/>
          </a:bodyPr>
          <a:lstStyle/>
          <a:p>
            <a:pPr algn="l"/>
            <a:r>
              <a:rPr sz="1400" b="0">
                <a:solidFill>
                  <a:srgbClr val="C9D7E5"/>
                </a:solidFill>
                <a:latin typeface="Calibri"/>
              </a:rPr>
              <a:t>Prove the middle layer on one optimization family before a platform bet</a:t>
            </a:r>
          </a:p>
        </p:txBody>
      </p:sp>
      <p:sp>
        <p:nvSpPr>
          <p:cNvPr id="6" name="Rectangle 5"/>
          <p:cNvSpPr/>
          <p:nvPr/>
        </p:nvSpPr>
        <p:spPr>
          <a:xfrm>
            <a:off x="0" y="6656832"/>
            <a:ext cx="12191695" cy="20116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647688"/>
            <a:ext cx="9144000" cy="201168"/>
          </a:xfrm>
          <a:prstGeom prst="rect">
            <a:avLst/>
          </a:prstGeom>
          <a:noFill/>
        </p:spPr>
        <p:txBody>
          <a:bodyPr wrap="square">
            <a:spAutoFit/>
          </a:bodyPr>
          <a:lstStyle/>
          <a:p>
            <a:pPr algn="l"/>
            <a:r>
              <a:rPr sz="1000" b="0">
                <a:solidFill>
                  <a:srgbClr val="FFFFFF"/>
                </a:solidFill>
                <a:latin typeface="Calibri"/>
              </a:rPr>
              <a:t>Embedded Coder  ·  Code Efficiency  ·  Integration Testing Proposal  ·  Internal</a:t>
            </a:r>
          </a:p>
        </p:txBody>
      </p:sp>
      <p:sp>
        <p:nvSpPr>
          <p:cNvPr id="8" name="TextBox 7"/>
          <p:cNvSpPr txBox="1"/>
          <p:nvPr/>
        </p:nvSpPr>
        <p:spPr>
          <a:xfrm>
            <a:off x="10607040" y="6647688"/>
            <a:ext cx="1280160" cy="201168"/>
          </a:xfrm>
          <a:prstGeom prst="rect">
            <a:avLst/>
          </a:prstGeom>
          <a:noFill/>
        </p:spPr>
        <p:txBody>
          <a:bodyPr wrap="square">
            <a:spAutoFit/>
          </a:bodyPr>
          <a:lstStyle/>
          <a:p>
            <a:pPr algn="r"/>
            <a:r>
              <a:rPr sz="1000" b="0">
                <a:solidFill>
                  <a:srgbClr val="FFFFFF"/>
                </a:solidFill>
                <a:latin typeface="Calibri"/>
              </a:rPr>
              <a:t>16  /  20</a:t>
            </a:r>
          </a:p>
        </p:txBody>
      </p:sp>
      <p:sp>
        <p:nvSpPr>
          <p:cNvPr id="9" name="Rectangle 8"/>
          <p:cNvSpPr/>
          <p:nvPr/>
        </p:nvSpPr>
        <p:spPr>
          <a:xfrm>
            <a:off x="0" y="1124712"/>
            <a:ext cx="12191695" cy="553212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11480" y="1325880"/>
            <a:ext cx="2286000" cy="1005840"/>
          </a:xfrm>
          <a:prstGeom prst="round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645920"/>
            <a:ext cx="2103120" cy="411480"/>
          </a:xfrm>
          <a:prstGeom prst="rect">
            <a:avLst/>
          </a:prstGeom>
          <a:noFill/>
        </p:spPr>
        <p:txBody>
          <a:bodyPr wrap="square">
            <a:spAutoFit/>
          </a:bodyPr>
          <a:lstStyle/>
          <a:p>
            <a:pPr algn="ctr"/>
            <a:r>
              <a:rPr sz="1400" b="1">
                <a:solidFill>
                  <a:srgbClr val="FFFFFF"/>
                </a:solidFill>
                <a:latin typeface="Calibri"/>
              </a:rPr>
              <a:t>Phase 0  Align</a:t>
            </a:r>
          </a:p>
        </p:txBody>
      </p:sp>
      <p:sp>
        <p:nvSpPr>
          <p:cNvPr id="12" name="Rounded Rectangle 11"/>
          <p:cNvSpPr/>
          <p:nvPr/>
        </p:nvSpPr>
        <p:spPr>
          <a:xfrm>
            <a:off x="2880360" y="1325880"/>
            <a:ext cx="8869680" cy="1005840"/>
          </a:xfrm>
          <a:prstGeom prst="roundRect">
            <a:avLst/>
          </a:prstGeom>
          <a:solidFill>
            <a:srgbClr val="FFFFFF"/>
          </a:solidFill>
          <a:ln w="12700">
            <a:solidFill>
              <a:srgbClr val="D5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08960" y="1508760"/>
            <a:ext cx="8503920" cy="685800"/>
          </a:xfrm>
          <a:prstGeom prst="rect">
            <a:avLst/>
          </a:prstGeom>
          <a:noFill/>
        </p:spPr>
        <p:txBody>
          <a:bodyPr wrap="square">
            <a:spAutoFit/>
          </a:bodyPr>
          <a:lstStyle/>
          <a:p>
            <a:pPr algn="l"/>
            <a:r>
              <a:rPr sz="1400" b="0">
                <a:solidFill>
                  <a:srgbClr val="1C2430"/>
                </a:solidFill>
                <a:latin typeface="Calibri"/>
              </a:rPr>
              <a:t>Pick one family (recommend: buffer reuse / copies, or SIMD). Inventory today’s SIL tests that exist only to detect “optimization didn’t fire.” Agree oracles: patterns + static metrics.</a:t>
            </a:r>
          </a:p>
        </p:txBody>
      </p:sp>
      <p:sp>
        <p:nvSpPr>
          <p:cNvPr id="14" name="Rounded Rectangle 13"/>
          <p:cNvSpPr/>
          <p:nvPr/>
        </p:nvSpPr>
        <p:spPr>
          <a:xfrm>
            <a:off x="411480" y="2468880"/>
            <a:ext cx="2286000" cy="1005840"/>
          </a:xfrm>
          <a:prstGeom prst="round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2788920"/>
            <a:ext cx="2103120" cy="411480"/>
          </a:xfrm>
          <a:prstGeom prst="rect">
            <a:avLst/>
          </a:prstGeom>
          <a:noFill/>
        </p:spPr>
        <p:txBody>
          <a:bodyPr wrap="square">
            <a:spAutoFit/>
          </a:bodyPr>
          <a:lstStyle/>
          <a:p>
            <a:pPr algn="ctr"/>
            <a:r>
              <a:rPr sz="1400" b="1">
                <a:solidFill>
                  <a:srgbClr val="FFFFFF"/>
                </a:solidFill>
                <a:latin typeface="Calibri"/>
              </a:rPr>
              <a:t>Phase 1  Harness</a:t>
            </a:r>
          </a:p>
        </p:txBody>
      </p:sp>
      <p:sp>
        <p:nvSpPr>
          <p:cNvPr id="16" name="Rounded Rectangle 15"/>
          <p:cNvSpPr/>
          <p:nvPr/>
        </p:nvSpPr>
        <p:spPr>
          <a:xfrm>
            <a:off x="2880360" y="2468880"/>
            <a:ext cx="8869680" cy="1005840"/>
          </a:xfrm>
          <a:prstGeom prst="roundRect">
            <a:avLst/>
          </a:prstGeom>
          <a:solidFill>
            <a:srgbClr val="FFFFFF"/>
          </a:solidFill>
          <a:ln w="12700">
            <a:solidFill>
              <a:srgbClr val="D5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108960" y="2651760"/>
            <a:ext cx="8503920" cy="685800"/>
          </a:xfrm>
          <a:prstGeom prst="rect">
            <a:avLst/>
          </a:prstGeom>
          <a:noFill/>
        </p:spPr>
        <p:txBody>
          <a:bodyPr wrap="square">
            <a:spAutoFit/>
          </a:bodyPr>
          <a:lstStyle/>
          <a:p>
            <a:pPr algn="l"/>
            <a:r>
              <a:rPr sz="1400" b="0">
                <a:solidFill>
                  <a:srgbClr val="1C2430"/>
                </a:solidFill>
                <a:latin typeface="Calibri"/>
              </a:rPr>
              <a:t>Minimal runner: load fixture → slbuild/codegen → dump C/IR/metrics → match. One command, CI-able, artifact on fail. No SIL in the harness.</a:t>
            </a:r>
          </a:p>
        </p:txBody>
      </p:sp>
      <p:sp>
        <p:nvSpPr>
          <p:cNvPr id="18" name="Rounded Rectangle 17"/>
          <p:cNvSpPr/>
          <p:nvPr/>
        </p:nvSpPr>
        <p:spPr>
          <a:xfrm>
            <a:off x="411480" y="3611880"/>
            <a:ext cx="2286000" cy="1005840"/>
          </a:xfrm>
          <a:prstGeom prst="round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3931920"/>
            <a:ext cx="2103120" cy="411480"/>
          </a:xfrm>
          <a:prstGeom prst="rect">
            <a:avLst/>
          </a:prstGeom>
          <a:noFill/>
        </p:spPr>
        <p:txBody>
          <a:bodyPr wrap="square">
            <a:spAutoFit/>
          </a:bodyPr>
          <a:lstStyle/>
          <a:p>
            <a:pPr algn="ctr"/>
            <a:r>
              <a:rPr sz="1400" b="1">
                <a:solidFill>
                  <a:srgbClr val="FFFFFF"/>
                </a:solidFill>
                <a:latin typeface="Calibri"/>
              </a:rPr>
              <a:t>Phase 2  Seed suite</a:t>
            </a:r>
          </a:p>
        </p:txBody>
      </p:sp>
      <p:sp>
        <p:nvSpPr>
          <p:cNvPr id="20" name="Rounded Rectangle 19"/>
          <p:cNvSpPr/>
          <p:nvPr/>
        </p:nvSpPr>
        <p:spPr>
          <a:xfrm>
            <a:off x="2880360" y="3611880"/>
            <a:ext cx="8869680" cy="1005840"/>
          </a:xfrm>
          <a:prstGeom prst="roundRect">
            <a:avLst/>
          </a:prstGeom>
          <a:solidFill>
            <a:srgbClr val="FFFFFF"/>
          </a:solidFill>
          <a:ln w="12700">
            <a:solidFill>
              <a:srgbClr val="D5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108960" y="3794760"/>
            <a:ext cx="8503920" cy="685800"/>
          </a:xfrm>
          <a:prstGeom prst="rect">
            <a:avLst/>
          </a:prstGeom>
          <a:noFill/>
        </p:spPr>
        <p:txBody>
          <a:bodyPr wrap="square">
            <a:spAutoFit/>
          </a:bodyPr>
          <a:lstStyle/>
          <a:p>
            <a:pPr algn="l"/>
            <a:r>
              <a:rPr sz="1400" b="0">
                <a:solidFill>
                  <a:srgbClr val="1C2430"/>
                </a:solidFill>
                <a:latin typeface="Calibri"/>
              </a:rPr>
              <a:t>20–40 fixtures covering the family, including known historical bugs. Convert 5–10 existing slow system tests into L2 + keep 2 SIL sentinels.</a:t>
            </a:r>
          </a:p>
        </p:txBody>
      </p:sp>
      <p:sp>
        <p:nvSpPr>
          <p:cNvPr id="22" name="Rounded Rectangle 21"/>
          <p:cNvSpPr/>
          <p:nvPr/>
        </p:nvSpPr>
        <p:spPr>
          <a:xfrm>
            <a:off x="411480" y="4754880"/>
            <a:ext cx="2286000" cy="1005840"/>
          </a:xfrm>
          <a:prstGeom prst="round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5074920"/>
            <a:ext cx="2103120" cy="411480"/>
          </a:xfrm>
          <a:prstGeom prst="rect">
            <a:avLst/>
          </a:prstGeom>
          <a:noFill/>
        </p:spPr>
        <p:txBody>
          <a:bodyPr wrap="square">
            <a:spAutoFit/>
          </a:bodyPr>
          <a:lstStyle/>
          <a:p>
            <a:pPr algn="ctr"/>
            <a:r>
              <a:rPr sz="1400" b="1">
                <a:solidFill>
                  <a:srgbClr val="FFFFFF"/>
                </a:solidFill>
                <a:latin typeface="Calibri"/>
              </a:rPr>
              <a:t>Phase 3  Policy</a:t>
            </a:r>
          </a:p>
        </p:txBody>
      </p:sp>
      <p:sp>
        <p:nvSpPr>
          <p:cNvPr id="24" name="Rounded Rectangle 23"/>
          <p:cNvSpPr/>
          <p:nvPr/>
        </p:nvSpPr>
        <p:spPr>
          <a:xfrm>
            <a:off x="2880360" y="4754880"/>
            <a:ext cx="8869680" cy="1005840"/>
          </a:xfrm>
          <a:prstGeom prst="roundRect">
            <a:avLst/>
          </a:prstGeom>
          <a:solidFill>
            <a:srgbClr val="FFFFFF"/>
          </a:solidFill>
          <a:ln w="12700">
            <a:solidFill>
              <a:srgbClr val="D5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08960" y="4937760"/>
            <a:ext cx="8503920" cy="685800"/>
          </a:xfrm>
          <a:prstGeom prst="rect">
            <a:avLst/>
          </a:prstGeom>
          <a:noFill/>
        </p:spPr>
        <p:txBody>
          <a:bodyPr wrap="square">
            <a:spAutoFit/>
          </a:bodyPr>
          <a:lstStyle/>
          <a:p>
            <a:pPr algn="l"/>
            <a:r>
              <a:rPr sz="1400" b="0">
                <a:solidFill>
                  <a:srgbClr val="1C2430"/>
                </a:solidFill>
                <a:latin typeface="Calibri"/>
              </a:rPr>
              <a:t>Presubmit = L2 for that folder. Measure: median time, defects found before SIL, false-golden updates. Then replicate the harness to the next family.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73152"/>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10972800" cy="457200"/>
          </a:xfrm>
          <a:prstGeom prst="rect">
            <a:avLst/>
          </a:prstGeom>
          <a:noFill/>
        </p:spPr>
        <p:txBody>
          <a:bodyPr wrap="square">
            <a:spAutoFit/>
          </a:bodyPr>
          <a:lstStyle/>
          <a:p>
            <a:pPr algn="l"/>
            <a:r>
              <a:rPr sz="2800" b="1">
                <a:solidFill>
                  <a:srgbClr val="FFFFFF"/>
                </a:solidFill>
                <a:latin typeface="Calibri"/>
              </a:rPr>
              <a:t>How we will know it worked</a:t>
            </a:r>
          </a:p>
        </p:txBody>
      </p:sp>
      <p:sp>
        <p:nvSpPr>
          <p:cNvPr id="5" name="TextBox 4"/>
          <p:cNvSpPr txBox="1"/>
          <p:nvPr/>
        </p:nvSpPr>
        <p:spPr>
          <a:xfrm>
            <a:off x="457200" y="621792"/>
            <a:ext cx="10972800" cy="320040"/>
          </a:xfrm>
          <a:prstGeom prst="rect">
            <a:avLst/>
          </a:prstGeom>
          <a:noFill/>
        </p:spPr>
        <p:txBody>
          <a:bodyPr wrap="square">
            <a:spAutoFit/>
          </a:bodyPr>
          <a:lstStyle/>
          <a:p>
            <a:pPr algn="l"/>
            <a:r>
              <a:rPr sz="1400" b="0">
                <a:solidFill>
                  <a:srgbClr val="C9D7E5"/>
                </a:solidFill>
                <a:latin typeface="Calibri"/>
              </a:rPr>
              <a:t>Pilot success metrics — discuss and freeze in Phase 0</a:t>
            </a:r>
          </a:p>
        </p:txBody>
      </p:sp>
      <p:sp>
        <p:nvSpPr>
          <p:cNvPr id="6" name="Rectangle 5"/>
          <p:cNvSpPr/>
          <p:nvPr/>
        </p:nvSpPr>
        <p:spPr>
          <a:xfrm>
            <a:off x="0" y="6656832"/>
            <a:ext cx="12191695" cy="20116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647688"/>
            <a:ext cx="9144000" cy="201168"/>
          </a:xfrm>
          <a:prstGeom prst="rect">
            <a:avLst/>
          </a:prstGeom>
          <a:noFill/>
        </p:spPr>
        <p:txBody>
          <a:bodyPr wrap="square">
            <a:spAutoFit/>
          </a:bodyPr>
          <a:lstStyle/>
          <a:p>
            <a:pPr algn="l"/>
            <a:r>
              <a:rPr sz="1000" b="0">
                <a:solidFill>
                  <a:srgbClr val="FFFFFF"/>
                </a:solidFill>
                <a:latin typeface="Calibri"/>
              </a:rPr>
              <a:t>Embedded Coder  ·  Code Efficiency  ·  Integration Testing Proposal  ·  Internal</a:t>
            </a:r>
          </a:p>
        </p:txBody>
      </p:sp>
      <p:sp>
        <p:nvSpPr>
          <p:cNvPr id="8" name="TextBox 7"/>
          <p:cNvSpPr txBox="1"/>
          <p:nvPr/>
        </p:nvSpPr>
        <p:spPr>
          <a:xfrm>
            <a:off x="10607040" y="6647688"/>
            <a:ext cx="1280160" cy="201168"/>
          </a:xfrm>
          <a:prstGeom prst="rect">
            <a:avLst/>
          </a:prstGeom>
          <a:noFill/>
        </p:spPr>
        <p:txBody>
          <a:bodyPr wrap="square">
            <a:spAutoFit/>
          </a:bodyPr>
          <a:lstStyle/>
          <a:p>
            <a:pPr algn="r"/>
            <a:r>
              <a:rPr sz="1000" b="0">
                <a:solidFill>
                  <a:srgbClr val="FFFFFF"/>
                </a:solidFill>
                <a:latin typeface="Calibri"/>
              </a:rPr>
              <a:t>17  /  20</a:t>
            </a:r>
          </a:p>
        </p:txBody>
      </p:sp>
      <p:sp>
        <p:nvSpPr>
          <p:cNvPr id="9" name="Rectangle 8"/>
          <p:cNvSpPr/>
          <p:nvPr/>
        </p:nvSpPr>
        <p:spPr>
          <a:xfrm>
            <a:off x="0" y="1124712"/>
            <a:ext cx="12191695" cy="553212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65760" y="1371600"/>
            <a:ext cx="3703320" cy="2148840"/>
          </a:xfrm>
          <a:prstGeom prst="roundRect">
            <a:avLst/>
          </a:prstGeom>
          <a:solidFill>
            <a:srgbClr val="FFFFFF"/>
          </a:solidFill>
          <a:ln w="12700">
            <a:solidFill>
              <a:srgbClr val="D5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554480"/>
            <a:ext cx="3337560" cy="548640"/>
          </a:xfrm>
          <a:prstGeom prst="rect">
            <a:avLst/>
          </a:prstGeom>
          <a:noFill/>
        </p:spPr>
        <p:txBody>
          <a:bodyPr wrap="square">
            <a:spAutoFit/>
          </a:bodyPr>
          <a:lstStyle/>
          <a:p>
            <a:pPr algn="l"/>
            <a:r>
              <a:rPr sz="1600" b="1">
                <a:solidFill>
                  <a:srgbClr val="E87722"/>
                </a:solidFill>
                <a:latin typeface="Calibri"/>
              </a:rPr>
              <a:t>Feedback time</a:t>
            </a:r>
          </a:p>
        </p:txBody>
      </p:sp>
      <p:sp>
        <p:nvSpPr>
          <p:cNvPr id="12" name="TextBox 11"/>
          <p:cNvSpPr txBox="1"/>
          <p:nvPr/>
        </p:nvSpPr>
        <p:spPr>
          <a:xfrm>
            <a:off x="548640" y="2148840"/>
            <a:ext cx="3337560" cy="1188720"/>
          </a:xfrm>
          <a:prstGeom prst="rect">
            <a:avLst/>
          </a:prstGeom>
          <a:noFill/>
        </p:spPr>
        <p:txBody>
          <a:bodyPr wrap="square">
            <a:spAutoFit/>
          </a:bodyPr>
          <a:lstStyle/>
          <a:p>
            <a:pPr algn="l"/>
            <a:r>
              <a:rPr sz="1300" b="0">
                <a:solidFill>
                  <a:srgbClr val="1C2430"/>
                </a:solidFill>
                <a:latin typeface="Calibri"/>
              </a:rPr>
              <a:t>L2 pack for the family runs in minutes on a standard engineer machine / CI shard. Contrast with current SIL pack time.</a:t>
            </a:r>
          </a:p>
        </p:txBody>
      </p:sp>
      <p:sp>
        <p:nvSpPr>
          <p:cNvPr id="13" name="Rounded Rectangle 12"/>
          <p:cNvSpPr/>
          <p:nvPr/>
        </p:nvSpPr>
        <p:spPr>
          <a:xfrm>
            <a:off x="4251960" y="1371600"/>
            <a:ext cx="3703320" cy="2148840"/>
          </a:xfrm>
          <a:prstGeom prst="roundRect">
            <a:avLst/>
          </a:prstGeom>
          <a:solidFill>
            <a:srgbClr val="FFFFFF"/>
          </a:solidFill>
          <a:ln w="12700">
            <a:solidFill>
              <a:srgbClr val="D5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34840" y="1554480"/>
            <a:ext cx="3337560" cy="548640"/>
          </a:xfrm>
          <a:prstGeom prst="rect">
            <a:avLst/>
          </a:prstGeom>
          <a:noFill/>
        </p:spPr>
        <p:txBody>
          <a:bodyPr wrap="square">
            <a:spAutoFit/>
          </a:bodyPr>
          <a:lstStyle/>
          <a:p>
            <a:pPr algn="l"/>
            <a:r>
              <a:rPr sz="1600" b="1">
                <a:solidFill>
                  <a:srgbClr val="E87722"/>
                </a:solidFill>
                <a:latin typeface="Calibri"/>
              </a:rPr>
              <a:t>Defects shifted left</a:t>
            </a:r>
          </a:p>
        </p:txBody>
      </p:sp>
      <p:sp>
        <p:nvSpPr>
          <p:cNvPr id="15" name="TextBox 14"/>
          <p:cNvSpPr txBox="1"/>
          <p:nvPr/>
        </p:nvSpPr>
        <p:spPr>
          <a:xfrm>
            <a:off x="4434840" y="2148840"/>
            <a:ext cx="3337560" cy="1188720"/>
          </a:xfrm>
          <a:prstGeom prst="rect">
            <a:avLst/>
          </a:prstGeom>
          <a:noFill/>
        </p:spPr>
        <p:txBody>
          <a:bodyPr wrap="square">
            <a:spAutoFit/>
          </a:bodyPr>
          <a:lstStyle/>
          <a:p>
            <a:pPr algn="l"/>
            <a:r>
              <a:rPr sz="1300" b="0">
                <a:solidFill>
                  <a:srgbClr val="1C2430"/>
                </a:solidFill>
                <a:latin typeface="Calibri"/>
              </a:rPr>
              <a:t>Count of bugs (or injected faults) caught by L2 that previously needed SIL. Target: majority of “didn’t fire / extra copy / metric regression” class.</a:t>
            </a:r>
          </a:p>
        </p:txBody>
      </p:sp>
      <p:sp>
        <p:nvSpPr>
          <p:cNvPr id="16" name="Rounded Rectangle 15"/>
          <p:cNvSpPr/>
          <p:nvPr/>
        </p:nvSpPr>
        <p:spPr>
          <a:xfrm>
            <a:off x="8138160" y="1371600"/>
            <a:ext cx="3703320" cy="2148840"/>
          </a:xfrm>
          <a:prstGeom prst="roundRect">
            <a:avLst/>
          </a:prstGeom>
          <a:solidFill>
            <a:srgbClr val="FFFFFF"/>
          </a:solidFill>
          <a:ln w="12700">
            <a:solidFill>
              <a:srgbClr val="D5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40" y="1554480"/>
            <a:ext cx="3337560" cy="548640"/>
          </a:xfrm>
          <a:prstGeom prst="rect">
            <a:avLst/>
          </a:prstGeom>
          <a:noFill/>
        </p:spPr>
        <p:txBody>
          <a:bodyPr wrap="square">
            <a:spAutoFit/>
          </a:bodyPr>
          <a:lstStyle/>
          <a:p>
            <a:pPr algn="l"/>
            <a:r>
              <a:rPr sz="1600" b="1">
                <a:solidFill>
                  <a:srgbClr val="E87722"/>
                </a:solidFill>
                <a:latin typeface="Calibri"/>
              </a:rPr>
              <a:t>Localization</a:t>
            </a:r>
          </a:p>
        </p:txBody>
      </p:sp>
      <p:sp>
        <p:nvSpPr>
          <p:cNvPr id="18" name="TextBox 17"/>
          <p:cNvSpPr txBox="1"/>
          <p:nvPr/>
        </p:nvSpPr>
        <p:spPr>
          <a:xfrm>
            <a:off x="8321040" y="2148840"/>
            <a:ext cx="3337560" cy="1188720"/>
          </a:xfrm>
          <a:prstGeom prst="rect">
            <a:avLst/>
          </a:prstGeom>
          <a:noFill/>
        </p:spPr>
        <p:txBody>
          <a:bodyPr wrap="square">
            <a:spAutoFit/>
          </a:bodyPr>
          <a:lstStyle/>
          <a:p>
            <a:pPr algn="l"/>
            <a:r>
              <a:rPr sz="1300" b="0">
                <a:solidFill>
                  <a:srgbClr val="1C2430"/>
                </a:solidFill>
                <a:latin typeface="Calibri"/>
              </a:rPr>
              <a:t>Median time from red to blamed pass/file. L2 failures should name fixture + check, not a 20-minute SIL log.</a:t>
            </a:r>
          </a:p>
        </p:txBody>
      </p:sp>
      <p:sp>
        <p:nvSpPr>
          <p:cNvPr id="19" name="Rounded Rectangle 18"/>
          <p:cNvSpPr/>
          <p:nvPr/>
        </p:nvSpPr>
        <p:spPr>
          <a:xfrm>
            <a:off x="365760" y="3703320"/>
            <a:ext cx="3703320" cy="2148840"/>
          </a:xfrm>
          <a:prstGeom prst="roundRect">
            <a:avLst/>
          </a:prstGeom>
          <a:solidFill>
            <a:srgbClr val="FFFFFF"/>
          </a:solidFill>
          <a:ln w="12700">
            <a:solidFill>
              <a:srgbClr val="D5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3886200"/>
            <a:ext cx="3337560" cy="548640"/>
          </a:xfrm>
          <a:prstGeom prst="rect">
            <a:avLst/>
          </a:prstGeom>
          <a:noFill/>
        </p:spPr>
        <p:txBody>
          <a:bodyPr wrap="square">
            <a:spAutoFit/>
          </a:bodyPr>
          <a:lstStyle/>
          <a:p>
            <a:pPr algn="l"/>
            <a:r>
              <a:rPr sz="1600" b="1">
                <a:solidFill>
                  <a:srgbClr val="E87722"/>
                </a:solidFill>
                <a:latin typeface="Calibri"/>
              </a:rPr>
              <a:t>SIL diet</a:t>
            </a:r>
          </a:p>
        </p:txBody>
      </p:sp>
      <p:sp>
        <p:nvSpPr>
          <p:cNvPr id="21" name="TextBox 20"/>
          <p:cNvSpPr txBox="1"/>
          <p:nvPr/>
        </p:nvSpPr>
        <p:spPr>
          <a:xfrm>
            <a:off x="548640" y="4480560"/>
            <a:ext cx="3337560" cy="1188720"/>
          </a:xfrm>
          <a:prstGeom prst="rect">
            <a:avLst/>
          </a:prstGeom>
          <a:noFill/>
        </p:spPr>
        <p:txBody>
          <a:bodyPr wrap="square">
            <a:spAutoFit/>
          </a:bodyPr>
          <a:lstStyle/>
          <a:p>
            <a:pPr algn="l"/>
            <a:r>
              <a:rPr sz="1300" b="0">
                <a:solidFill>
                  <a:srgbClr val="1C2430"/>
                </a:solidFill>
                <a:latin typeface="Calibri"/>
              </a:rPr>
              <a:t>Number of redundant system tests retired or demoted, without increasing escaped customer defects in that family.</a:t>
            </a:r>
          </a:p>
        </p:txBody>
      </p:sp>
      <p:sp>
        <p:nvSpPr>
          <p:cNvPr id="22" name="Rounded Rectangle 21"/>
          <p:cNvSpPr/>
          <p:nvPr/>
        </p:nvSpPr>
        <p:spPr>
          <a:xfrm>
            <a:off x="4251960" y="3703320"/>
            <a:ext cx="3703320" cy="2148840"/>
          </a:xfrm>
          <a:prstGeom prst="roundRect">
            <a:avLst/>
          </a:prstGeom>
          <a:solidFill>
            <a:srgbClr val="FFFFFF"/>
          </a:solidFill>
          <a:ln w="12700">
            <a:solidFill>
              <a:srgbClr val="D5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34840" y="3886200"/>
            <a:ext cx="3337560" cy="548640"/>
          </a:xfrm>
          <a:prstGeom prst="rect">
            <a:avLst/>
          </a:prstGeom>
          <a:noFill/>
        </p:spPr>
        <p:txBody>
          <a:bodyPr wrap="square">
            <a:spAutoFit/>
          </a:bodyPr>
          <a:lstStyle/>
          <a:p>
            <a:pPr algn="l"/>
            <a:r>
              <a:rPr sz="1600" b="1">
                <a:solidFill>
                  <a:srgbClr val="E87722"/>
                </a:solidFill>
                <a:latin typeface="Calibri"/>
              </a:rPr>
              <a:t>Golden hygiene</a:t>
            </a:r>
          </a:p>
        </p:txBody>
      </p:sp>
      <p:sp>
        <p:nvSpPr>
          <p:cNvPr id="24" name="TextBox 23"/>
          <p:cNvSpPr txBox="1"/>
          <p:nvPr/>
        </p:nvSpPr>
        <p:spPr>
          <a:xfrm>
            <a:off x="4434840" y="4480560"/>
            <a:ext cx="3337560" cy="1188720"/>
          </a:xfrm>
          <a:prstGeom prst="rect">
            <a:avLst/>
          </a:prstGeom>
          <a:noFill/>
        </p:spPr>
        <p:txBody>
          <a:bodyPr wrap="square">
            <a:spAutoFit/>
          </a:bodyPr>
          <a:lstStyle/>
          <a:p>
            <a:pPr algn="l"/>
            <a:r>
              <a:rPr sz="1300" b="0">
                <a:solidFill>
                  <a:srgbClr val="1C2430"/>
                </a:solidFill>
                <a:latin typeface="Calibri"/>
              </a:rPr>
              <a:t>Rate of snapshot updates that are justified vs noisy. If goldens churn on unrelated edits, tighten CHECK patterns (LLVM lesson).</a:t>
            </a:r>
          </a:p>
        </p:txBody>
      </p:sp>
      <p:sp>
        <p:nvSpPr>
          <p:cNvPr id="25" name="Rounded Rectangle 24"/>
          <p:cNvSpPr/>
          <p:nvPr/>
        </p:nvSpPr>
        <p:spPr>
          <a:xfrm>
            <a:off x="8138160" y="3703320"/>
            <a:ext cx="3703320" cy="2148840"/>
          </a:xfrm>
          <a:prstGeom prst="roundRect">
            <a:avLst/>
          </a:prstGeom>
          <a:solidFill>
            <a:srgbClr val="FFFFFF"/>
          </a:solidFill>
          <a:ln w="12700">
            <a:solidFill>
              <a:srgbClr val="D5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21040" y="3886200"/>
            <a:ext cx="3337560" cy="548640"/>
          </a:xfrm>
          <a:prstGeom prst="rect">
            <a:avLst/>
          </a:prstGeom>
          <a:noFill/>
        </p:spPr>
        <p:txBody>
          <a:bodyPr wrap="square">
            <a:spAutoFit/>
          </a:bodyPr>
          <a:lstStyle/>
          <a:p>
            <a:pPr algn="l"/>
            <a:r>
              <a:rPr sz="1600" b="1">
                <a:solidFill>
                  <a:srgbClr val="E87722"/>
                </a:solidFill>
                <a:latin typeface="Calibri"/>
              </a:rPr>
              <a:t>Dev adoption</a:t>
            </a:r>
          </a:p>
        </p:txBody>
      </p:sp>
      <p:sp>
        <p:nvSpPr>
          <p:cNvPr id="27" name="TextBox 26"/>
          <p:cNvSpPr txBox="1"/>
          <p:nvPr/>
        </p:nvSpPr>
        <p:spPr>
          <a:xfrm>
            <a:off x="8321040" y="4480560"/>
            <a:ext cx="3337560" cy="1188720"/>
          </a:xfrm>
          <a:prstGeom prst="rect">
            <a:avLst/>
          </a:prstGeom>
          <a:noFill/>
        </p:spPr>
        <p:txBody>
          <a:bodyPr wrap="square">
            <a:spAutoFit/>
          </a:bodyPr>
          <a:lstStyle/>
          <a:p>
            <a:pPr algn="l"/>
            <a:r>
              <a:rPr sz="1300" b="0">
                <a:solidFill>
                  <a:srgbClr val="1C2430"/>
                </a:solidFill>
                <a:latin typeface="Calibri"/>
              </a:rPr>
              <a:t>New optimization CLs in the family include L2 tests by default in review. QE reviews test level, not only coverage of SIL.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73152"/>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10972800" cy="457200"/>
          </a:xfrm>
          <a:prstGeom prst="rect">
            <a:avLst/>
          </a:prstGeom>
          <a:noFill/>
        </p:spPr>
        <p:txBody>
          <a:bodyPr wrap="square">
            <a:spAutoFit/>
          </a:bodyPr>
          <a:lstStyle/>
          <a:p>
            <a:pPr algn="l"/>
            <a:r>
              <a:rPr sz="2800" b="1">
                <a:solidFill>
                  <a:srgbClr val="FFFFFF"/>
                </a:solidFill>
                <a:latin typeface="Calibri"/>
              </a:rPr>
              <a:t>Risks and how we contain them</a:t>
            </a:r>
          </a:p>
        </p:txBody>
      </p:sp>
      <p:sp>
        <p:nvSpPr>
          <p:cNvPr id="5" name="TextBox 4"/>
          <p:cNvSpPr txBox="1"/>
          <p:nvPr/>
        </p:nvSpPr>
        <p:spPr>
          <a:xfrm>
            <a:off x="457200" y="621792"/>
            <a:ext cx="10972800" cy="320040"/>
          </a:xfrm>
          <a:prstGeom prst="rect">
            <a:avLst/>
          </a:prstGeom>
          <a:noFill/>
        </p:spPr>
        <p:txBody>
          <a:bodyPr wrap="square">
            <a:spAutoFit/>
          </a:bodyPr>
          <a:lstStyle/>
          <a:p>
            <a:pPr algn="l"/>
            <a:r>
              <a:rPr sz="1400" b="0">
                <a:solidFill>
                  <a:srgbClr val="C9D7E5"/>
                </a:solidFill>
                <a:latin typeface="Calibri"/>
              </a:rPr>
              <a:t>Integration tests fail in predictable ways — plan for them</a:t>
            </a:r>
          </a:p>
        </p:txBody>
      </p:sp>
      <p:sp>
        <p:nvSpPr>
          <p:cNvPr id="6" name="Rectangle 5"/>
          <p:cNvSpPr/>
          <p:nvPr/>
        </p:nvSpPr>
        <p:spPr>
          <a:xfrm>
            <a:off x="0" y="6656832"/>
            <a:ext cx="12191695" cy="20116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647688"/>
            <a:ext cx="9144000" cy="201168"/>
          </a:xfrm>
          <a:prstGeom prst="rect">
            <a:avLst/>
          </a:prstGeom>
          <a:noFill/>
        </p:spPr>
        <p:txBody>
          <a:bodyPr wrap="square">
            <a:spAutoFit/>
          </a:bodyPr>
          <a:lstStyle/>
          <a:p>
            <a:pPr algn="l"/>
            <a:r>
              <a:rPr sz="1000" b="0">
                <a:solidFill>
                  <a:srgbClr val="FFFFFF"/>
                </a:solidFill>
                <a:latin typeface="Calibri"/>
              </a:rPr>
              <a:t>Embedded Coder  ·  Code Efficiency  ·  Integration Testing Proposal  ·  Internal</a:t>
            </a:r>
          </a:p>
        </p:txBody>
      </p:sp>
      <p:sp>
        <p:nvSpPr>
          <p:cNvPr id="8" name="TextBox 7"/>
          <p:cNvSpPr txBox="1"/>
          <p:nvPr/>
        </p:nvSpPr>
        <p:spPr>
          <a:xfrm>
            <a:off x="10607040" y="6647688"/>
            <a:ext cx="1280160" cy="201168"/>
          </a:xfrm>
          <a:prstGeom prst="rect">
            <a:avLst/>
          </a:prstGeom>
          <a:noFill/>
        </p:spPr>
        <p:txBody>
          <a:bodyPr wrap="square">
            <a:spAutoFit/>
          </a:bodyPr>
          <a:lstStyle/>
          <a:p>
            <a:pPr algn="r"/>
            <a:r>
              <a:rPr sz="1000" b="0">
                <a:solidFill>
                  <a:srgbClr val="FFFFFF"/>
                </a:solidFill>
                <a:latin typeface="Calibri"/>
              </a:rPr>
              <a:t>18  /  20</a:t>
            </a:r>
          </a:p>
        </p:txBody>
      </p:sp>
      <p:sp>
        <p:nvSpPr>
          <p:cNvPr id="9" name="Rectangle 8"/>
          <p:cNvSpPr/>
          <p:nvPr/>
        </p:nvSpPr>
        <p:spPr>
          <a:xfrm>
            <a:off x="0" y="1124712"/>
            <a:ext cx="12191695" cy="553212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65760" y="1325880"/>
            <a:ext cx="5715000" cy="1463040"/>
          </a:xfrm>
          <a:prstGeom prst="roundRect">
            <a:avLst/>
          </a:prstGeom>
          <a:solidFill>
            <a:srgbClr val="FFFFFF"/>
          </a:solidFill>
          <a:ln w="12700">
            <a:solidFill>
              <a:srgbClr val="D5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1463040"/>
            <a:ext cx="5303520" cy="365760"/>
          </a:xfrm>
          <a:prstGeom prst="rect">
            <a:avLst/>
          </a:prstGeom>
          <a:noFill/>
        </p:spPr>
        <p:txBody>
          <a:bodyPr wrap="square">
            <a:spAutoFit/>
          </a:bodyPr>
          <a:lstStyle/>
          <a:p>
            <a:pPr algn="l"/>
            <a:r>
              <a:rPr sz="1500" b="1">
                <a:solidFill>
                  <a:srgbClr val="0B2C4A"/>
                </a:solidFill>
                <a:latin typeface="Calibri"/>
              </a:rPr>
              <a:t>Goldens become change detectors</a:t>
            </a:r>
          </a:p>
        </p:txBody>
      </p:sp>
      <p:sp>
        <p:nvSpPr>
          <p:cNvPr id="12" name="TextBox 11"/>
          <p:cNvSpPr txBox="1"/>
          <p:nvPr/>
        </p:nvSpPr>
        <p:spPr>
          <a:xfrm>
            <a:off x="594360" y="1874520"/>
            <a:ext cx="5303520" cy="777240"/>
          </a:xfrm>
          <a:prstGeom prst="rect">
            <a:avLst/>
          </a:prstGeom>
          <a:noFill/>
        </p:spPr>
        <p:txBody>
          <a:bodyPr wrap="square">
            <a:spAutoFit/>
          </a:bodyPr>
          <a:lstStyle/>
          <a:p>
            <a:pPr algn="l"/>
            <a:r>
              <a:rPr sz="1300" b="0">
                <a:solidFill>
                  <a:srgbClr val="5B6775"/>
                </a:solidFill>
                <a:latin typeface="Calibri"/>
              </a:rPr>
              <a:t>CHECK patterns, not whole-file diffs. Review golden updates like code. Auto-update scripts with diffs in the CL.</a:t>
            </a:r>
          </a:p>
        </p:txBody>
      </p:sp>
      <p:sp>
        <p:nvSpPr>
          <p:cNvPr id="13" name="Rounded Rectangle 12"/>
          <p:cNvSpPr/>
          <p:nvPr/>
        </p:nvSpPr>
        <p:spPr>
          <a:xfrm>
            <a:off x="6263640" y="1325880"/>
            <a:ext cx="5715000" cy="1463040"/>
          </a:xfrm>
          <a:prstGeom prst="roundRect">
            <a:avLst/>
          </a:prstGeom>
          <a:solidFill>
            <a:srgbClr val="FFFFFF"/>
          </a:solidFill>
          <a:ln w="12700">
            <a:solidFill>
              <a:srgbClr val="D5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1463040"/>
            <a:ext cx="5303520" cy="365760"/>
          </a:xfrm>
          <a:prstGeom prst="rect">
            <a:avLst/>
          </a:prstGeom>
          <a:noFill/>
        </p:spPr>
        <p:txBody>
          <a:bodyPr wrap="square">
            <a:spAutoFit/>
          </a:bodyPr>
          <a:lstStyle/>
          <a:p>
            <a:pPr algn="l"/>
            <a:r>
              <a:rPr sz="1500" b="1">
                <a:solidFill>
                  <a:srgbClr val="0B2C4A"/>
                </a:solidFill>
                <a:latin typeface="Calibri"/>
              </a:rPr>
              <a:t>We accidentally rebuild SIL in disguise</a:t>
            </a:r>
          </a:p>
        </p:txBody>
      </p:sp>
      <p:sp>
        <p:nvSpPr>
          <p:cNvPr id="15" name="TextBox 14"/>
          <p:cNvSpPr txBox="1"/>
          <p:nvPr/>
        </p:nvSpPr>
        <p:spPr>
          <a:xfrm>
            <a:off x="6492240" y="1874520"/>
            <a:ext cx="5303520" cy="777240"/>
          </a:xfrm>
          <a:prstGeom prst="rect">
            <a:avLst/>
          </a:prstGeom>
          <a:noFill/>
        </p:spPr>
        <p:txBody>
          <a:bodyPr wrap="square">
            <a:spAutoFit/>
          </a:bodyPr>
          <a:lstStyle/>
          <a:p>
            <a:pPr algn="l"/>
            <a:r>
              <a:rPr sz="1300" b="0">
                <a:solidFill>
                  <a:srgbClr val="5B6775"/>
                </a:solidFill>
                <a:latin typeface="Calibri"/>
              </a:rPr>
              <a:t>Harness forbids SIL/PIL APIs in L2. Time budget per test. QE checklist: “can this fail without executing generated code?”</a:t>
            </a:r>
          </a:p>
        </p:txBody>
      </p:sp>
      <p:sp>
        <p:nvSpPr>
          <p:cNvPr id="16" name="Rounded Rectangle 15"/>
          <p:cNvSpPr/>
          <p:nvPr/>
        </p:nvSpPr>
        <p:spPr>
          <a:xfrm>
            <a:off x="365760" y="2926080"/>
            <a:ext cx="5715000" cy="1463040"/>
          </a:xfrm>
          <a:prstGeom prst="roundRect">
            <a:avLst/>
          </a:prstGeom>
          <a:solidFill>
            <a:srgbClr val="FFFFFF"/>
          </a:solidFill>
          <a:ln w="12700">
            <a:solidFill>
              <a:srgbClr val="D5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3063240"/>
            <a:ext cx="5303520" cy="365760"/>
          </a:xfrm>
          <a:prstGeom prst="rect">
            <a:avLst/>
          </a:prstGeom>
          <a:noFill/>
        </p:spPr>
        <p:txBody>
          <a:bodyPr wrap="square">
            <a:spAutoFit/>
          </a:bodyPr>
          <a:lstStyle/>
          <a:p>
            <a:pPr algn="l"/>
            <a:r>
              <a:rPr sz="1500" b="1">
                <a:solidFill>
                  <a:srgbClr val="0B2C4A"/>
                </a:solidFill>
                <a:latin typeface="Calibri"/>
              </a:rPr>
              <a:t>False confidence, skip SIL entirely</a:t>
            </a:r>
          </a:p>
        </p:txBody>
      </p:sp>
      <p:sp>
        <p:nvSpPr>
          <p:cNvPr id="18" name="TextBox 17"/>
          <p:cNvSpPr txBox="1"/>
          <p:nvPr/>
        </p:nvSpPr>
        <p:spPr>
          <a:xfrm>
            <a:off x="594360" y="3474720"/>
            <a:ext cx="5303520" cy="777240"/>
          </a:xfrm>
          <a:prstGeom prst="rect">
            <a:avLst/>
          </a:prstGeom>
          <a:noFill/>
        </p:spPr>
        <p:txBody>
          <a:bodyPr wrap="square">
            <a:spAutoFit/>
          </a:bodyPr>
          <a:lstStyle/>
          <a:p>
            <a:pPr algn="l"/>
            <a:r>
              <a:rPr sz="1300" b="0">
                <a:solidFill>
                  <a:srgbClr val="5B6775"/>
                </a:solidFill>
                <a:latin typeface="Calibri"/>
              </a:rPr>
              <a:t>Keep sentinel SIL per family. Never let L2 be the only numerical oracle for a pass that can change values.</a:t>
            </a:r>
          </a:p>
        </p:txBody>
      </p:sp>
      <p:sp>
        <p:nvSpPr>
          <p:cNvPr id="19" name="Rounded Rectangle 18"/>
          <p:cNvSpPr/>
          <p:nvPr/>
        </p:nvSpPr>
        <p:spPr>
          <a:xfrm>
            <a:off x="6263640" y="2926080"/>
            <a:ext cx="5715000" cy="1463040"/>
          </a:xfrm>
          <a:prstGeom prst="roundRect">
            <a:avLst/>
          </a:prstGeom>
          <a:solidFill>
            <a:srgbClr val="FFFFFF"/>
          </a:solidFill>
          <a:ln w="12700">
            <a:solidFill>
              <a:srgbClr val="D5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3063240"/>
            <a:ext cx="5303520" cy="365760"/>
          </a:xfrm>
          <a:prstGeom prst="rect">
            <a:avLst/>
          </a:prstGeom>
          <a:noFill/>
        </p:spPr>
        <p:txBody>
          <a:bodyPr wrap="square">
            <a:spAutoFit/>
          </a:bodyPr>
          <a:lstStyle/>
          <a:p>
            <a:pPr algn="l"/>
            <a:r>
              <a:rPr sz="1500" b="1">
                <a:solidFill>
                  <a:srgbClr val="0B2C4A"/>
                </a:solidFill>
                <a:latin typeface="Calibri"/>
              </a:rPr>
              <a:t>Fixture models bit-rot</a:t>
            </a:r>
          </a:p>
        </p:txBody>
      </p:sp>
      <p:sp>
        <p:nvSpPr>
          <p:cNvPr id="21" name="TextBox 20"/>
          <p:cNvSpPr txBox="1"/>
          <p:nvPr/>
        </p:nvSpPr>
        <p:spPr>
          <a:xfrm>
            <a:off x="6492240" y="3474720"/>
            <a:ext cx="5303520" cy="777240"/>
          </a:xfrm>
          <a:prstGeom prst="rect">
            <a:avLst/>
          </a:prstGeom>
          <a:noFill/>
        </p:spPr>
        <p:txBody>
          <a:bodyPr wrap="square">
            <a:spAutoFit/>
          </a:bodyPr>
          <a:lstStyle/>
          <a:p>
            <a:pPr algn="l"/>
            <a:r>
              <a:rPr sz="1300" b="0">
                <a:solidFill>
                  <a:srgbClr val="5B6775"/>
                </a:solidFill>
                <a:latin typeface="Calibri"/>
              </a:rPr>
              <a:t>Own fixtures next to the pass. Run L2 on every CL that touches that directory. Treat fixtures as product code.</a:t>
            </a:r>
          </a:p>
        </p:txBody>
      </p:sp>
      <p:sp>
        <p:nvSpPr>
          <p:cNvPr id="22" name="Rounded Rectangle 21"/>
          <p:cNvSpPr/>
          <p:nvPr/>
        </p:nvSpPr>
        <p:spPr>
          <a:xfrm>
            <a:off x="365760" y="4526280"/>
            <a:ext cx="5715000" cy="1463040"/>
          </a:xfrm>
          <a:prstGeom prst="roundRect">
            <a:avLst/>
          </a:prstGeom>
          <a:solidFill>
            <a:srgbClr val="FFFFFF"/>
          </a:solidFill>
          <a:ln w="12700">
            <a:solidFill>
              <a:srgbClr val="D5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4663440"/>
            <a:ext cx="5303520" cy="365760"/>
          </a:xfrm>
          <a:prstGeom prst="rect">
            <a:avLst/>
          </a:prstGeom>
          <a:noFill/>
        </p:spPr>
        <p:txBody>
          <a:bodyPr wrap="square">
            <a:spAutoFit/>
          </a:bodyPr>
          <a:lstStyle/>
          <a:p>
            <a:pPr algn="l"/>
            <a:r>
              <a:rPr sz="1500" b="1">
                <a:solidFill>
                  <a:srgbClr val="0B2C4A"/>
                </a:solidFill>
                <a:latin typeface="Calibri"/>
              </a:rPr>
              <a:t>Tooling cost higher than expected</a:t>
            </a:r>
          </a:p>
        </p:txBody>
      </p:sp>
      <p:sp>
        <p:nvSpPr>
          <p:cNvPr id="24" name="TextBox 23"/>
          <p:cNvSpPr txBox="1"/>
          <p:nvPr/>
        </p:nvSpPr>
        <p:spPr>
          <a:xfrm>
            <a:off x="594360" y="5074920"/>
            <a:ext cx="5303520" cy="777240"/>
          </a:xfrm>
          <a:prstGeom prst="rect">
            <a:avLst/>
          </a:prstGeom>
          <a:noFill/>
        </p:spPr>
        <p:txBody>
          <a:bodyPr wrap="square">
            <a:spAutoFit/>
          </a:bodyPr>
          <a:lstStyle/>
          <a:p>
            <a:pPr algn="l"/>
            <a:r>
              <a:rPr sz="1300" b="0">
                <a:solidFill>
                  <a:srgbClr val="5B6775"/>
                </a:solidFill>
                <a:latin typeface="Calibri"/>
              </a:rPr>
              <a:t>Phase 1 is a thin MATLAB/Python runner, not a new product. Reuse static metrics and existing codegen APIs.</a:t>
            </a:r>
          </a:p>
        </p:txBody>
      </p:sp>
      <p:sp>
        <p:nvSpPr>
          <p:cNvPr id="25" name="Rounded Rectangle 24"/>
          <p:cNvSpPr/>
          <p:nvPr/>
        </p:nvSpPr>
        <p:spPr>
          <a:xfrm>
            <a:off x="6263640" y="4526280"/>
            <a:ext cx="5715000" cy="1463040"/>
          </a:xfrm>
          <a:prstGeom prst="roundRect">
            <a:avLst/>
          </a:prstGeom>
          <a:solidFill>
            <a:srgbClr val="FFFFFF"/>
          </a:solidFill>
          <a:ln w="12700">
            <a:solidFill>
              <a:srgbClr val="D5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0" y="4663440"/>
            <a:ext cx="5303520" cy="365760"/>
          </a:xfrm>
          <a:prstGeom prst="rect">
            <a:avLst/>
          </a:prstGeom>
          <a:noFill/>
        </p:spPr>
        <p:txBody>
          <a:bodyPr wrap="square">
            <a:spAutoFit/>
          </a:bodyPr>
          <a:lstStyle/>
          <a:p>
            <a:pPr algn="l"/>
            <a:r>
              <a:rPr sz="1500" b="1">
                <a:solidFill>
                  <a:srgbClr val="0B2C4A"/>
                </a:solidFill>
                <a:latin typeface="Calibri"/>
              </a:rPr>
              <a:t>Org inertia (“we already have system tests”)</a:t>
            </a:r>
          </a:p>
        </p:txBody>
      </p:sp>
      <p:sp>
        <p:nvSpPr>
          <p:cNvPr id="27" name="TextBox 26"/>
          <p:cNvSpPr txBox="1"/>
          <p:nvPr/>
        </p:nvSpPr>
        <p:spPr>
          <a:xfrm>
            <a:off x="6492240" y="5074920"/>
            <a:ext cx="5303520" cy="777240"/>
          </a:xfrm>
          <a:prstGeom prst="rect">
            <a:avLst/>
          </a:prstGeom>
          <a:noFill/>
        </p:spPr>
        <p:txBody>
          <a:bodyPr wrap="square">
            <a:spAutoFit/>
          </a:bodyPr>
          <a:lstStyle/>
          <a:p>
            <a:pPr algn="l"/>
            <a:r>
              <a:rPr sz="1300" b="0">
                <a:solidFill>
                  <a:srgbClr val="5B6775"/>
                </a:solidFill>
                <a:latin typeface="Calibri"/>
              </a:rPr>
              <a:t>Pilot on one family with before/after numbers. Do not ask for a suite rewrite up front.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73152"/>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10972800" cy="457200"/>
          </a:xfrm>
          <a:prstGeom prst="rect">
            <a:avLst/>
          </a:prstGeom>
          <a:noFill/>
        </p:spPr>
        <p:txBody>
          <a:bodyPr wrap="square">
            <a:spAutoFit/>
          </a:bodyPr>
          <a:lstStyle/>
          <a:p>
            <a:pPr algn="l"/>
            <a:r>
              <a:rPr sz="2800" b="1">
                <a:solidFill>
                  <a:srgbClr val="FFFFFF"/>
                </a:solidFill>
                <a:latin typeface="Calibri"/>
              </a:rPr>
              <a:t>Recommendation and ask</a:t>
            </a:r>
          </a:p>
        </p:txBody>
      </p:sp>
      <p:sp>
        <p:nvSpPr>
          <p:cNvPr id="5" name="TextBox 4"/>
          <p:cNvSpPr txBox="1"/>
          <p:nvPr/>
        </p:nvSpPr>
        <p:spPr>
          <a:xfrm>
            <a:off x="457200" y="621792"/>
            <a:ext cx="10972800" cy="320040"/>
          </a:xfrm>
          <a:prstGeom prst="rect">
            <a:avLst/>
          </a:prstGeom>
          <a:noFill/>
        </p:spPr>
        <p:txBody>
          <a:bodyPr wrap="square">
            <a:spAutoFit/>
          </a:bodyPr>
          <a:lstStyle/>
          <a:p>
            <a:pPr algn="l"/>
            <a:r>
              <a:rPr sz="1400" b="0">
                <a:solidFill>
                  <a:srgbClr val="C9D7E5"/>
                </a:solidFill>
                <a:latin typeface="Calibri"/>
              </a:rPr>
              <a:t>What I need from you to start</a:t>
            </a:r>
          </a:p>
        </p:txBody>
      </p:sp>
      <p:sp>
        <p:nvSpPr>
          <p:cNvPr id="6" name="Rectangle 5"/>
          <p:cNvSpPr/>
          <p:nvPr/>
        </p:nvSpPr>
        <p:spPr>
          <a:xfrm>
            <a:off x="0" y="6656832"/>
            <a:ext cx="12191695" cy="20116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647688"/>
            <a:ext cx="9144000" cy="201168"/>
          </a:xfrm>
          <a:prstGeom prst="rect">
            <a:avLst/>
          </a:prstGeom>
          <a:noFill/>
        </p:spPr>
        <p:txBody>
          <a:bodyPr wrap="square">
            <a:spAutoFit/>
          </a:bodyPr>
          <a:lstStyle/>
          <a:p>
            <a:pPr algn="l"/>
            <a:r>
              <a:rPr sz="1000" b="0">
                <a:solidFill>
                  <a:srgbClr val="FFFFFF"/>
                </a:solidFill>
                <a:latin typeface="Calibri"/>
              </a:rPr>
              <a:t>Embedded Coder  ·  Code Efficiency  ·  Integration Testing Proposal  ·  Internal</a:t>
            </a:r>
          </a:p>
        </p:txBody>
      </p:sp>
      <p:sp>
        <p:nvSpPr>
          <p:cNvPr id="8" name="TextBox 7"/>
          <p:cNvSpPr txBox="1"/>
          <p:nvPr/>
        </p:nvSpPr>
        <p:spPr>
          <a:xfrm>
            <a:off x="10607040" y="6647688"/>
            <a:ext cx="1280160" cy="201168"/>
          </a:xfrm>
          <a:prstGeom prst="rect">
            <a:avLst/>
          </a:prstGeom>
          <a:noFill/>
        </p:spPr>
        <p:txBody>
          <a:bodyPr wrap="square">
            <a:spAutoFit/>
          </a:bodyPr>
          <a:lstStyle/>
          <a:p>
            <a:pPr algn="r"/>
            <a:r>
              <a:rPr sz="1000" b="0">
                <a:solidFill>
                  <a:srgbClr val="FFFFFF"/>
                </a:solidFill>
                <a:latin typeface="Calibri"/>
              </a:rPr>
              <a:t>19  /  20</a:t>
            </a:r>
          </a:p>
        </p:txBody>
      </p:sp>
      <p:sp>
        <p:nvSpPr>
          <p:cNvPr id="9" name="Rectangle 8"/>
          <p:cNvSpPr/>
          <p:nvPr/>
        </p:nvSpPr>
        <p:spPr>
          <a:xfrm>
            <a:off x="0" y="1124712"/>
            <a:ext cx="12191695" cy="553212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371600"/>
            <a:ext cx="11247120" cy="640080"/>
          </a:xfrm>
          <a:prstGeom prst="rect">
            <a:avLst/>
          </a:prstGeom>
          <a:noFill/>
        </p:spPr>
        <p:txBody>
          <a:bodyPr wrap="square">
            <a:spAutoFit/>
          </a:bodyPr>
          <a:lstStyle/>
          <a:p>
            <a:pPr algn="l"/>
            <a:r>
              <a:rPr sz="1800" b="1">
                <a:solidFill>
                  <a:srgbClr val="0B2C4A"/>
                </a:solidFill>
                <a:latin typeface="Calibri"/>
              </a:rPr>
              <a:t>Recommend we fund a Code Efficiency integration-test layer, piloted on one optimization family, rather than scaling SIL further.</a:t>
            </a:r>
          </a:p>
        </p:txBody>
      </p:sp>
      <p:sp>
        <p:nvSpPr>
          <p:cNvPr id="11" name="TextBox 10"/>
          <p:cNvSpPr txBox="1"/>
          <p:nvPr/>
        </p:nvSpPr>
        <p:spPr>
          <a:xfrm>
            <a:off x="502920" y="2103120"/>
            <a:ext cx="11155680" cy="3200400"/>
          </a:xfrm>
          <a:prstGeom prst="rect">
            <a:avLst/>
          </a:prstGeom>
          <a:noFill/>
        </p:spPr>
        <p:txBody>
          <a:bodyPr wrap="square">
            <a:spAutoFit/>
          </a:bodyPr>
          <a:lstStyle/>
          <a:p>
            <a:pPr algn="l">
              <a:spcAft>
                <a:spcPts val="1200"/>
              </a:spcAft>
            </a:pPr>
            <a:r>
              <a:rPr sz="1600" b="0">
                <a:solidFill>
                  <a:srgbClr val="1C2430"/>
                </a:solidFill>
                <a:latin typeface="Calibri"/>
              </a:rPr>
              <a:t>•  Endorse the four-layer vocabulary (Unit / Integration / System smoke / System deep) so reviews have a shared language.</a:t>
            </a:r>
          </a:p>
          <a:p>
            <a:pPr algn="l">
              <a:spcAft>
                <a:spcPts val="1200"/>
              </a:spcAft>
            </a:pPr>
            <a:r>
              <a:rPr sz="1600" b="0">
                <a:solidFill>
                  <a:srgbClr val="1C2430"/>
                </a:solidFill>
                <a:latin typeface="Calibri"/>
              </a:rPr>
              <a:t>•  Name a Dev counterpart for Phase 0–1 (harness + first fixtures) and pick the family (buffer reuse/copies vs SIMD).</a:t>
            </a:r>
          </a:p>
          <a:p>
            <a:pPr algn="l">
              <a:spcAft>
                <a:spcPts val="1200"/>
              </a:spcAft>
            </a:pPr>
            <a:r>
              <a:rPr sz="1600" b="0">
                <a:solidFill>
                  <a:srgbClr val="1C2430"/>
                </a:solidFill>
                <a:latin typeface="Calibri"/>
              </a:rPr>
              <a:t>•  Allow QE to propose retiring or demoting SIL cases once L2 covers the same defect class — with sentinel SIL retained.</a:t>
            </a:r>
          </a:p>
          <a:p>
            <a:pPr algn="l">
              <a:spcAft>
                <a:spcPts val="1200"/>
              </a:spcAft>
            </a:pPr>
            <a:r>
              <a:rPr sz="1600" b="0">
                <a:solidFill>
                  <a:srgbClr val="1C2430"/>
                </a:solidFill>
                <a:latin typeface="Calibri"/>
              </a:rPr>
              <a:t>•  Protect time for the harness as engineering work, not “extra test writing on the side of feature QE.”</a:t>
            </a:r>
          </a:p>
          <a:p>
            <a:pPr algn="l">
              <a:spcAft>
                <a:spcPts val="1200"/>
              </a:spcAft>
            </a:pPr>
            <a:r>
              <a:rPr sz="1600" b="0">
                <a:solidFill>
                  <a:srgbClr val="1C2430"/>
                </a:solidFill>
                <a:latin typeface="Calibri"/>
              </a:rPr>
              <a:t>•  If the pilot’s metrics look good, replicate the pattern; if not, we stop — this is a bounded experiment, not a religion.</a:t>
            </a:r>
          </a:p>
        </p:txBody>
      </p:sp>
      <p:sp>
        <p:nvSpPr>
          <p:cNvPr id="12" name="Rounded Rectangle 11"/>
          <p:cNvSpPr/>
          <p:nvPr/>
        </p:nvSpPr>
        <p:spPr>
          <a:xfrm>
            <a:off x="411480" y="5349240"/>
            <a:ext cx="11338560" cy="1005840"/>
          </a:xfrm>
          <a:prstGeom prst="roundRect">
            <a:avLst/>
          </a:prstGeom>
          <a:solidFill>
            <a:srgbClr val="FFFFFF"/>
          </a:solidFill>
          <a:ln w="12700">
            <a:solidFill>
              <a:srgbClr val="D5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5577840"/>
            <a:ext cx="10972800" cy="640080"/>
          </a:xfrm>
          <a:prstGeom prst="rect">
            <a:avLst/>
          </a:prstGeom>
          <a:noFill/>
        </p:spPr>
        <p:txBody>
          <a:bodyPr wrap="square">
            <a:spAutoFit/>
          </a:bodyPr>
          <a:lstStyle/>
          <a:p>
            <a:pPr algn="l"/>
            <a:r>
              <a:rPr sz="1600" b="1">
                <a:solidFill>
                  <a:srgbClr val="0D7A86"/>
                </a:solidFill>
                <a:latin typeface="Calibri"/>
              </a:rPr>
              <a:t>Decision needed today: approve Phase 0–1 on one family. Everything else waits on those numbers.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73152"/>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10972800" cy="457200"/>
          </a:xfrm>
          <a:prstGeom prst="rect">
            <a:avLst/>
          </a:prstGeom>
          <a:noFill/>
        </p:spPr>
        <p:txBody>
          <a:bodyPr wrap="square">
            <a:spAutoFit/>
          </a:bodyPr>
          <a:lstStyle/>
          <a:p>
            <a:pPr algn="l"/>
            <a:r>
              <a:rPr sz="2800" b="1">
                <a:solidFill>
                  <a:srgbClr val="FFFFFF"/>
                </a:solidFill>
                <a:latin typeface="Calibri"/>
              </a:rPr>
              <a:t>Sources (selected)</a:t>
            </a:r>
          </a:p>
        </p:txBody>
      </p:sp>
      <p:sp>
        <p:nvSpPr>
          <p:cNvPr id="5" name="TextBox 4"/>
          <p:cNvSpPr txBox="1"/>
          <p:nvPr/>
        </p:nvSpPr>
        <p:spPr>
          <a:xfrm>
            <a:off x="457200" y="621792"/>
            <a:ext cx="10972800" cy="320040"/>
          </a:xfrm>
          <a:prstGeom prst="rect">
            <a:avLst/>
          </a:prstGeom>
          <a:noFill/>
        </p:spPr>
        <p:txBody>
          <a:bodyPr wrap="square">
            <a:spAutoFit/>
          </a:bodyPr>
          <a:lstStyle/>
          <a:p>
            <a:pPr algn="l"/>
            <a:r>
              <a:rPr sz="1400" b="0">
                <a:solidFill>
                  <a:srgbClr val="C9D7E5"/>
                </a:solidFill>
                <a:latin typeface="Calibri"/>
              </a:rPr>
              <a:t>So the research is auditable</a:t>
            </a:r>
          </a:p>
        </p:txBody>
      </p:sp>
      <p:sp>
        <p:nvSpPr>
          <p:cNvPr id="6" name="Rectangle 5"/>
          <p:cNvSpPr/>
          <p:nvPr/>
        </p:nvSpPr>
        <p:spPr>
          <a:xfrm>
            <a:off x="0" y="6656832"/>
            <a:ext cx="12191695" cy="201168"/>
          </a:xfrm>
          <a:prstGeom prst="rect">
            <a:avLst/>
          </a:prstGeom>
          <a:solidFill>
            <a:srgbClr val="0B2C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647688"/>
            <a:ext cx="9144000" cy="201168"/>
          </a:xfrm>
          <a:prstGeom prst="rect">
            <a:avLst/>
          </a:prstGeom>
          <a:noFill/>
        </p:spPr>
        <p:txBody>
          <a:bodyPr wrap="square">
            <a:spAutoFit/>
          </a:bodyPr>
          <a:lstStyle/>
          <a:p>
            <a:pPr algn="l"/>
            <a:r>
              <a:rPr sz="1000" b="0">
                <a:solidFill>
                  <a:srgbClr val="FFFFFF"/>
                </a:solidFill>
                <a:latin typeface="Calibri"/>
              </a:rPr>
              <a:t>Embedded Coder  ·  Code Efficiency  ·  Integration Testing Proposal  ·  Internal</a:t>
            </a:r>
          </a:p>
        </p:txBody>
      </p:sp>
      <p:sp>
        <p:nvSpPr>
          <p:cNvPr id="8" name="TextBox 7"/>
          <p:cNvSpPr txBox="1"/>
          <p:nvPr/>
        </p:nvSpPr>
        <p:spPr>
          <a:xfrm>
            <a:off x="10607040" y="6647688"/>
            <a:ext cx="1280160" cy="201168"/>
          </a:xfrm>
          <a:prstGeom prst="rect">
            <a:avLst/>
          </a:prstGeom>
          <a:noFill/>
        </p:spPr>
        <p:txBody>
          <a:bodyPr wrap="square">
            <a:spAutoFit/>
          </a:bodyPr>
          <a:lstStyle/>
          <a:p>
            <a:pPr algn="r"/>
            <a:r>
              <a:rPr sz="1000" b="0">
                <a:solidFill>
                  <a:srgbClr val="FFFFFF"/>
                </a:solidFill>
                <a:latin typeface="Calibri"/>
              </a:rPr>
              <a:t>20  /  20</a:t>
            </a:r>
          </a:p>
        </p:txBody>
      </p:sp>
      <p:sp>
        <p:nvSpPr>
          <p:cNvPr id="9" name="Rectangle 8"/>
          <p:cNvSpPr/>
          <p:nvPr/>
        </p:nvSpPr>
        <p:spPr>
          <a:xfrm>
            <a:off x="0" y="1124712"/>
            <a:ext cx="12191695" cy="553212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371600"/>
            <a:ext cx="11155680" cy="5029200"/>
          </a:xfrm>
          <a:prstGeom prst="rect">
            <a:avLst/>
          </a:prstGeom>
          <a:noFill/>
        </p:spPr>
        <p:txBody>
          <a:bodyPr wrap="square">
            <a:spAutoFit/>
          </a:bodyPr>
          <a:lstStyle/>
          <a:p>
            <a:pPr algn="l">
              <a:spcAft>
                <a:spcPts val="800"/>
              </a:spcAft>
            </a:pPr>
            <a:r>
              <a:rPr sz="1400" b="0">
                <a:solidFill>
                  <a:srgbClr val="1C2430"/>
                </a:solidFill>
                <a:latin typeface="Calibri"/>
              </a:rPr>
              <a:t>•  Google, Software Engineering at Google, Ch. 11 Testing Overview &amp; Ch. 14 Larger Testing — small/medium/large, ~80/15/5 pyramid.</a:t>
            </a:r>
          </a:p>
          <a:p>
            <a:pPr algn="l">
              <a:spcAft>
                <a:spcPts val="800"/>
              </a:spcAft>
            </a:pPr>
            <a:r>
              <a:rPr sz="1400" b="0">
                <a:solidFill>
                  <a:srgbClr val="1C2430"/>
                </a:solidFill>
                <a:latin typeface="Calibri"/>
              </a:rPr>
              <a:t>•  Microsoft Learn, Azure Well-Architected — testing strategies; pyramid; E2E kept small; pipeline gates.</a:t>
            </a:r>
          </a:p>
          <a:p>
            <a:pPr algn="l">
              <a:spcAft>
                <a:spcPts val="800"/>
              </a:spcAft>
            </a:pPr>
            <a:r>
              <a:rPr sz="1400" b="0">
                <a:solidFill>
                  <a:srgbClr val="1C2430"/>
                </a:solidFill>
                <a:latin typeface="Calibri"/>
              </a:rPr>
              <a:t>•  Martin Fowler on integration-test scope; ISTQB test levels (component / integration / system / acceptance).</a:t>
            </a:r>
          </a:p>
          <a:p>
            <a:pPr algn="l">
              <a:spcAft>
                <a:spcPts val="800"/>
              </a:spcAft>
            </a:pPr>
            <a:r>
              <a:rPr sz="1400" b="0">
                <a:solidFill>
                  <a:srgbClr val="1C2430"/>
                </a:solidFill>
                <a:latin typeface="Calibri"/>
              </a:rPr>
              <a:t>•  LLVM Testing Infrastructure Guide; FileCheck; llvm-test-suite (whole programs vs lit regressions).</a:t>
            </a:r>
          </a:p>
          <a:p>
            <a:pPr algn="l">
              <a:spcAft>
                <a:spcPts val="800"/>
              </a:spcAft>
            </a:pPr>
            <a:r>
              <a:rPr sz="1400" b="0">
                <a:solidFill>
                  <a:srgbClr val="1C2430"/>
                </a:solidFill>
                <a:latin typeface="Calibri"/>
              </a:rPr>
              <a:t>•  TI compiler validation (Plum Hall, SuperTest, kernels, applications, regressions).</a:t>
            </a:r>
          </a:p>
          <a:p>
            <a:pPr algn="l">
              <a:spcAft>
                <a:spcPts val="800"/>
              </a:spcAft>
            </a:pPr>
            <a:r>
              <a:rPr sz="1400" b="0">
                <a:solidFill>
                  <a:srgbClr val="1C2430"/>
                </a:solidFill>
                <a:latin typeface="Calibri"/>
              </a:rPr>
              <a:t>•  Donaldson et al., GraphicsFuzz / gfauto; CompFuzzCI (Dafny/Amazon) — fuzz as a complement to regression.</a:t>
            </a:r>
          </a:p>
          <a:p>
            <a:pPr algn="l">
              <a:spcAft>
                <a:spcPts val="800"/>
              </a:spcAft>
            </a:pPr>
            <a:r>
              <a:rPr sz="1400" b="0">
                <a:solidFill>
                  <a:srgbClr val="1C2430"/>
                </a:solidFill>
                <a:latin typeface="Calibri"/>
              </a:rPr>
              <a:t>•  MathWorks Embedded Coder: SIL/PIL Manager, static code metrics, code efficiency techniques, execution profiling.</a:t>
            </a:r>
          </a:p>
          <a:p>
            <a:pPr algn="l">
              <a:spcAft>
                <a:spcPts val="800"/>
              </a:spcAft>
            </a:pPr>
            <a:r>
              <a:rPr sz="1400" b="0">
                <a:solidFill>
                  <a:srgbClr val="1C2430"/>
                </a:solidFill>
                <a:latin typeface="Calibri"/>
              </a:rPr>
              <a:t>•  BTC EmbeddedTester / dSPACE TargetLink: MIL/SIL/PIL, migration suites, Ford CRL+Jenkins case; EverTest for Simulink B2B.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